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A4FA0">
              <a:alpha val="25000"/>
            </a:srgbClr>
          </a:solidFill>
          <a:ln w="12700">
            <a:solidFill>
              <a:srgbClr val="1A4FA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2743200" cy="27432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ЕНУ им. Л.Н. Гумилева · Инф.о-32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2344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Облачные вычисления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архитектуры облачного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веб-сервиса с базой данных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57200" y="3291840"/>
            <a:ext cx="5029200" cy="27432"/>
          </a:xfrm>
          <a:prstGeom prst="rect">
            <a:avLst/>
          </a:prstGeom>
          <a:solidFill>
            <a:srgbClr val="6B8CAE">
              <a:alpha val="50000"/>
            </a:srgbClr>
          </a:solidFill>
          <a:ln w="12700">
            <a:solidFill>
              <a:srgbClr val="6B8CAE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429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Сағымбай Саят Құралбекұлы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3749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Проверил(а): Давлетова А.Х.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0" y="4663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 проекта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8321040" cy="822960"/>
          </a:xfrm>
          <a:prstGeom prst="rect">
            <a:avLst/>
          </a:prstGeom>
          <a:solidFill>
            <a:srgbClr val="1A4FA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 архитектуру облачного веб-сервиса с базой данных, обеспечив масштабируемость, отказоустойчивость, безопасность и оптимизацию затрат.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05740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057400"/>
            <a:ext cx="2651760" cy="548640"/>
          </a:xfrm>
          <a:prstGeom prst="rect">
            <a:avLst/>
          </a:prstGeom>
          <a:solidFill>
            <a:srgbClr val="0D1B4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12140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Теоретические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облачных вычислений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IaaS / PaaS / SaaS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облаков: public / private / hybrid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4114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Основы безопасности в облаке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27832" y="205740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27832" y="2057400"/>
            <a:ext cx="2651760" cy="548640"/>
          </a:xfrm>
          <a:prstGeom prst="rect">
            <a:avLst/>
          </a:prstGeom>
          <a:solidFill>
            <a:srgbClr val="1A4FA0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2121408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76472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Аналитические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410712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облачных платформ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410712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требований к нагрузке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410712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рисков и стоимости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410712" y="4114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«локально vs облако»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044184" y="2057400"/>
            <a:ext cx="26517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44184" y="2057400"/>
            <a:ext cx="2651760" cy="5486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2121408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92824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Практические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227064" y="2743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архитектуры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227064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и отказоустойчивость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227064" y="36576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внедрения и тестирования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227064" y="4114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по эксплуатации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Облачные вычисления — основы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8321040" cy="685800"/>
          </a:xfrm>
          <a:prstGeom prst="rect">
            <a:avLst/>
          </a:prstGeom>
          <a:solidFill>
            <a:srgbClr val="1A4FA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Предоставление вычислительных ресурсов через интернет по модели "pay-as-you-go" — оплата по факту использования.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ключевых характеристик по NIST: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128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Самообслуживание по требованию (on-demand)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700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Широкий сетевой доступ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27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Объединение ресурсов (resource pooling)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84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Быстрая эластичность (масштабирование)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416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Измеряемый сервис (учёт потребления)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74920" y="178308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74920" y="1783080"/>
            <a:ext cx="1920240" cy="4572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8072" y="1856232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Преимущества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212080" y="2331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запуск сервиса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212080" y="29260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Масштабируемость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212080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доступность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212080" y="41148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 затрат на оборудование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086600" y="178308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086600" y="1783080"/>
            <a:ext cx="1920240" cy="457200"/>
          </a:xfrm>
          <a:prstGeom prst="rect">
            <a:avLst/>
          </a:prstGeom>
          <a:solidFill>
            <a:srgbClr val="C04000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1856232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498080" y="18288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223760" y="23317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 от интернета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223760" y="292608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настройки прав доступа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7223760" y="352044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7223760" y="411480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Перерасход бюджета без контроля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сервисов: IaaS / PaaS / SaaS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05840"/>
            <a:ext cx="269748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05840"/>
            <a:ext cx="2697480" cy="960120"/>
          </a:xfrm>
          <a:prstGeom prst="rect">
            <a:avLst/>
          </a:prstGeom>
          <a:solidFill>
            <a:srgbClr val="0D1B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07899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051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75488" y="15361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" y="2057400"/>
            <a:ext cx="2514600" cy="347472"/>
          </a:xfrm>
          <a:prstGeom prst="rect">
            <a:avLst/>
          </a:prstGeom>
          <a:solidFill>
            <a:srgbClr val="F0F6FC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" y="20848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управляете: ОС, приложением, данными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21208" y="2514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 виртуальных машин, сети, дисков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21208" y="3035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контроль над инфраструктурой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21208" y="355701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контроля — больше ответственности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1208" y="407822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AWS EC2, Azure VM, GCP Compute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18688" y="1005840"/>
            <a:ext cx="269748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18688" y="1005840"/>
            <a:ext cx="2697480" cy="960120"/>
          </a:xfrm>
          <a:prstGeom prst="rect">
            <a:avLst/>
          </a:prstGeom>
          <a:solidFill>
            <a:srgbClr val="1A4FA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078992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950208" y="1051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3310128" y="15361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3310128" y="2057400"/>
            <a:ext cx="2514600" cy="347472"/>
          </a:xfrm>
          <a:prstGeom prst="rect">
            <a:avLst/>
          </a:prstGeom>
          <a:solidFill>
            <a:srgbClr val="F0F6FC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55848" y="20848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управляете: кодом и данными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3355848" y="2514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Готовая платформа для запуска приложения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3355848" y="3035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 управляет ОС и средой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355848" y="355701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для хостинга сайта + БД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3355848" y="407822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Heroku, Google App Engine, Render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053328" y="1005840"/>
            <a:ext cx="269748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053328" y="1005840"/>
            <a:ext cx="2697480" cy="9601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078992"/>
            <a:ext cx="502920" cy="50292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784848" y="10515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2200" dirty="0"/>
          </a:p>
        </p:txBody>
      </p:sp>
      <p:sp>
        <p:nvSpPr>
          <p:cNvPr id="31" name="Text 26"/>
          <p:cNvSpPr/>
          <p:nvPr/>
        </p:nvSpPr>
        <p:spPr>
          <a:xfrm>
            <a:off x="6144768" y="15361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144768" y="2057400"/>
            <a:ext cx="2514600" cy="347472"/>
          </a:xfrm>
          <a:prstGeom prst="rect">
            <a:avLst/>
          </a:prstGeom>
          <a:solidFill>
            <a:srgbClr val="F0F6FC"/>
          </a:solidFill>
          <a:ln w="6350">
            <a:solidFill>
              <a:srgbClr val="D0D8E4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190488" y="20848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только пользуетесь / настраиваете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190488" y="25146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Готовое ПО доступно через браузер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190488" y="30358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 управляет всем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6190488" y="355701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необходимости в установке и обслуживании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6190488" y="407822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Google Docs, Salesforce, Office 365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384048" y="4754880"/>
            <a:ext cx="8366760" cy="27432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9" name="Text 34"/>
          <p:cNvSpPr/>
          <p:nvPr/>
        </p:nvSpPr>
        <p:spPr>
          <a:xfrm>
            <a:off x="502920" y="477316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проекта «хостинг сайта + БД» оптимален PaaS — проще и быстрее. IaaS — если нужен полный контроль.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облаков (Deployment Models)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4069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51560"/>
            <a:ext cx="4069080" cy="502920"/>
          </a:xfrm>
          <a:prstGeom prst="rect">
            <a:avLst/>
          </a:prstGeom>
          <a:solidFill>
            <a:srgbClr val="1A4FA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1430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115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971800" y="1152144"/>
            <a:ext cx="1417320" cy="274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7"/>
          <p:cNvSpPr/>
          <p:nvPr/>
        </p:nvSpPr>
        <p:spPr>
          <a:xfrm>
            <a:off x="2990088" y="1161288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Рекомендовано для проекта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167335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Ресурсы у провайдера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20391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старт, гибкое масштабирование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240487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/ GCP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051560"/>
            <a:ext cx="4069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051560"/>
            <a:ext cx="4069080" cy="502920"/>
          </a:xfrm>
          <a:prstGeom prst="rect">
            <a:avLst/>
          </a:prstGeom>
          <a:solidFill>
            <a:srgbClr val="0D1B40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14300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2080" y="11155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46320" y="167335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 внутри организации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46320" y="20391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Максимальный контроль и безопасность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46320" y="240487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стоимость внедрения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11480" y="3063240"/>
            <a:ext cx="4069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11480" y="3063240"/>
            <a:ext cx="406908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15468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60120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594360" y="36850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локально + часть в облаке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94360" y="40507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чувствительных данных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94360" y="441655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Сложнее в администрировании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663440" y="3063240"/>
            <a:ext cx="40690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663440" y="3063240"/>
            <a:ext cx="4069080" cy="502920"/>
          </a:xfrm>
          <a:prstGeom prst="rect">
            <a:avLst/>
          </a:prstGeom>
          <a:solidFill>
            <a:srgbClr val="5B4FA0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15468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212080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4846320" y="368503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провайдеров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4846320" y="405079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vendor lock-in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846320" y="441655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Нужен контроль конфигураций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веб-сервиса в облаке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92608" y="914400"/>
            <a:ext cx="1508760" cy="1280160"/>
          </a:xfrm>
          <a:prstGeom prst="rect">
            <a:avLst/>
          </a:prstGeom>
          <a:solidFill>
            <a:srgbClr val="1A306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98755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8328" y="14630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38328" y="18470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0" y="1554480"/>
            <a:ext cx="14630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29384" y="1499616"/>
            <a:ext cx="91440" cy="10972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29384" y="1609344"/>
            <a:ext cx="91440" cy="-10972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002536" y="914400"/>
            <a:ext cx="1508760" cy="1280160"/>
          </a:xfrm>
          <a:prstGeom prst="rect">
            <a:avLst/>
          </a:prstGeom>
          <a:solidFill>
            <a:srgbClr val="1A4FA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98755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48256" y="14630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+ HTTPS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048256" y="18470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 / TLS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538728" y="1554480"/>
            <a:ext cx="14630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39312" y="1499616"/>
            <a:ext cx="91440" cy="10972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39312" y="1609344"/>
            <a:ext cx="91440" cy="-10972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712464" y="914400"/>
            <a:ext cx="1508760" cy="1280160"/>
          </a:xfrm>
          <a:prstGeom prst="rect">
            <a:avLst/>
          </a:prstGeom>
          <a:solidFill>
            <a:srgbClr val="0D6E7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987552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58184" y="14630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Балансировщик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3758184" y="18470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248656" y="1554480"/>
            <a:ext cx="14630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349240" y="1499616"/>
            <a:ext cx="91440" cy="10972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349240" y="1609344"/>
            <a:ext cx="91440" cy="-10972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422392" y="914400"/>
            <a:ext cx="1508760" cy="1280160"/>
          </a:xfrm>
          <a:prstGeom prst="rect">
            <a:avLst/>
          </a:prstGeom>
          <a:solidFill>
            <a:srgbClr val="4A3A9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987552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68112" y="14630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468112" y="18470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/ IaaS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958584" y="1554480"/>
            <a:ext cx="146304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059168" y="1499616"/>
            <a:ext cx="91440" cy="10972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7059168" y="1609344"/>
            <a:ext cx="91440" cy="-10972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132320" y="914400"/>
            <a:ext cx="1508760" cy="1280160"/>
          </a:xfrm>
          <a:prstGeom prst="rect">
            <a:avLst/>
          </a:prstGeom>
          <a:solidFill>
            <a:srgbClr val="7A202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987552"/>
            <a:ext cx="411480" cy="4114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178040" y="14630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DBaaS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178040" y="18470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801368" y="13716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292608" y="2743200"/>
            <a:ext cx="2011680" cy="82296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2816352"/>
            <a:ext cx="320040" cy="32004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768096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Наблюдаемость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384048" y="31546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· логи · алерты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2459736" y="2743200"/>
            <a:ext cx="2011680" cy="822960"/>
          </a:xfrm>
          <a:prstGeom prst="rect">
            <a:avLst/>
          </a:prstGeom>
          <a:solidFill>
            <a:srgbClr val="1A4FA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1176" y="2816352"/>
            <a:ext cx="320040" cy="32004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2935224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2551176" y="31546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VPC · шифрование · бэкапы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4626864" y="2743200"/>
            <a:ext cx="2011680" cy="822960"/>
          </a:xfrm>
          <a:prstGeom prst="rect">
            <a:avLst/>
          </a:prstGeom>
          <a:solidFill>
            <a:srgbClr val="5B4FA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8304" y="2816352"/>
            <a:ext cx="320040" cy="32004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5102352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</a:t>
            </a:r>
            <a:endParaRPr lang="en-US" sz="1100" dirty="0"/>
          </a:p>
        </p:txBody>
      </p:sp>
      <p:sp>
        <p:nvSpPr>
          <p:cNvPr id="48" name="Text 38"/>
          <p:cNvSpPr/>
          <p:nvPr/>
        </p:nvSpPr>
        <p:spPr>
          <a:xfrm>
            <a:off x="4718304" y="31546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зоны доступности · репликация · SLA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6793992" y="2743200"/>
            <a:ext cx="2011680" cy="822960"/>
          </a:xfrm>
          <a:prstGeom prst="rect">
            <a:avLst/>
          </a:prstGeom>
          <a:solidFill>
            <a:srgbClr val="7A4A00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5432" y="2816352"/>
            <a:ext cx="320040" cy="32004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26948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затрат</a:t>
            </a:r>
            <a:endParaRPr lang="en-US" sz="1100" dirty="0"/>
          </a:p>
        </p:txBody>
      </p:sp>
      <p:sp>
        <p:nvSpPr>
          <p:cNvPr id="52" name="Text 41"/>
          <p:cNvSpPr/>
          <p:nvPr/>
        </p:nvSpPr>
        <p:spPr>
          <a:xfrm>
            <a:off x="6885432" y="315468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E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лимиты · бюджеты · теги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292608" y="3749040"/>
            <a:ext cx="8458200" cy="594360"/>
          </a:xfrm>
          <a:prstGeom prst="rect">
            <a:avLst/>
          </a:prstGeom>
          <a:solidFill>
            <a:srgbClr val="1A2A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" y="3822192"/>
            <a:ext cx="365760" cy="365760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868680" y="3840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— статические файлы, резервные копии (бэкапы) + CDN для ускорения доставки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 и отказоустойчивость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05840"/>
            <a:ext cx="41605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05840"/>
            <a:ext cx="4160520" cy="502920"/>
          </a:xfrm>
          <a:prstGeom prst="rect">
            <a:avLst/>
          </a:prstGeom>
          <a:solidFill>
            <a:srgbClr val="1A4FA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0698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Масштабирование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1645920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1627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Вертикальное (scale up)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901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Увеличение ресурсов одного сервера (CPU / RAM). Быстро, но имеет предел.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450592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432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Горизонтальное (scale out)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1520" y="27066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новых экземпляров приложения. Практически неограниченно.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3255264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2369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35112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добавление/удаление инстансов по метрикам: CPU, RPS, очереди.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4059936"/>
            <a:ext cx="73152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0416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1520" y="4315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Распределяет трафик и выполняет health checks — убирает упавшие инстансы.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09160" y="1005840"/>
            <a:ext cx="402336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09160" y="1005840"/>
            <a:ext cx="4023360" cy="50292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078992"/>
            <a:ext cx="320040" cy="3200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239512" y="10698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Отказоустойчивость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4873752" y="1645920"/>
            <a:ext cx="73152" cy="548640"/>
          </a:xfrm>
          <a:prstGeom prst="rect">
            <a:avLst/>
          </a:prstGeom>
          <a:solidFill>
            <a:srgbClr val="1A4FA0"/>
          </a:solidFill>
          <a:ln/>
        </p:spPr>
      </p:sp>
      <p:sp>
        <p:nvSpPr>
          <p:cNvPr id="26" name="Text 22"/>
          <p:cNvSpPr/>
          <p:nvPr/>
        </p:nvSpPr>
        <p:spPr>
          <a:xfrm>
            <a:off x="5056632" y="162763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Зоны доступности (AZ)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056632" y="19019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одна зона падает — сервис продолжает работать в другой зоне.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873752" y="2450592"/>
            <a:ext cx="73152" cy="548640"/>
          </a:xfrm>
          <a:prstGeom prst="rect">
            <a:avLst/>
          </a:prstGeom>
          <a:solidFill>
            <a:srgbClr val="1A4FA0"/>
          </a:solidFill>
          <a:ln/>
        </p:spPr>
      </p:sp>
      <p:sp>
        <p:nvSpPr>
          <p:cNvPr id="29" name="Text 25"/>
          <p:cNvSpPr/>
          <p:nvPr/>
        </p:nvSpPr>
        <p:spPr>
          <a:xfrm>
            <a:off x="5056632" y="243230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Репликация БД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056632" y="270662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Основная БД + реплика. Автоматическое переключение при сбое (failover).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873752" y="3255264"/>
            <a:ext cx="73152" cy="548640"/>
          </a:xfrm>
          <a:prstGeom prst="rect">
            <a:avLst/>
          </a:prstGeom>
          <a:solidFill>
            <a:srgbClr val="1A4FA0"/>
          </a:solidFill>
          <a:ln/>
        </p:spPr>
      </p:sp>
      <p:sp>
        <p:nvSpPr>
          <p:cNvPr id="32" name="Text 28"/>
          <p:cNvSpPr/>
          <p:nvPr/>
        </p:nvSpPr>
        <p:spPr>
          <a:xfrm>
            <a:off x="5056632" y="32369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Restore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5056632" y="351129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 данных на любой момент времени из автоматических бэкапов.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873752" y="4059936"/>
            <a:ext cx="73152" cy="548640"/>
          </a:xfrm>
          <a:prstGeom prst="rect">
            <a:avLst/>
          </a:prstGeom>
          <a:solidFill>
            <a:srgbClr val="1A4FA0"/>
          </a:solidFill>
          <a:ln/>
        </p:spPr>
      </p:sp>
      <p:sp>
        <p:nvSpPr>
          <p:cNvPr id="35" name="Text 31"/>
          <p:cNvSpPr/>
          <p:nvPr/>
        </p:nvSpPr>
        <p:spPr>
          <a:xfrm>
            <a:off x="5056632" y="40416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/ RTO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5056632" y="431596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 — допустимая потеря данных. RTO — время восстановления сервиса.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в облаке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4048" y="100584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005840"/>
            <a:ext cx="4114800" cy="475488"/>
          </a:xfrm>
          <a:prstGeom prst="rect">
            <a:avLst/>
          </a:prstGeom>
          <a:solidFill>
            <a:srgbClr val="0D1B4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0972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и доступы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21208" y="157276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Отдельные роли для администратора, приложения и БД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21208" y="189280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минимальных прав (Least Privilege)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21208" y="221284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Многофакторная аутентификация (MFA)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21208" y="253288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и ключи — только в Secret Manager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00584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005840"/>
            <a:ext cx="4114800" cy="475488"/>
          </a:xfrm>
          <a:prstGeom prst="rect">
            <a:avLst/>
          </a:prstGeom>
          <a:solidFill>
            <a:srgbClr val="1A4FA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0972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12080" y="10972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Сетевая защита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800600" y="157276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БД — только в приватной подсети (VPC)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800600" y="189280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Публично доступен только балансировщик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00600" y="221284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— защита от атак и ботов на веб-уровне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800600" y="253288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— ограничение числа запросов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84048" y="301752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84048" y="3017520"/>
            <a:ext cx="4114800" cy="475488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10896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32688" y="3108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Шифрование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521208" y="358444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пути: HTTPS / TLS для всего трафика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21208" y="390448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диске: encryption-at-rest для БД и хранилища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21208" y="422452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Ротация ключей — автоматическая замена ключей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521208" y="454456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через CloudTrail / журналы событий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4663440" y="3017520"/>
            <a:ext cx="411480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4663440" y="3017520"/>
            <a:ext cx="4114800" cy="475488"/>
          </a:xfrm>
          <a:prstGeom prst="rect">
            <a:avLst/>
          </a:prstGeom>
          <a:solidFill>
            <a:srgbClr val="5B4FA0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108960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212080" y="31089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Бэкапы и мониторинг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4800600" y="358444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бэкапов + хранение нескольких версий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4800600" y="390448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восстановления (тест restore)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4800600" y="422452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Логи: доступы, ошибки, изменения конфигурации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800600" y="4544568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Алерты при подозрительной активности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затрат (упрощённый расчёт)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51560"/>
          <a:ext cx="8366760" cy="3017520"/>
        </p:xfrm>
        <a:graphic>
          <a:graphicData uri="http://schemas.openxmlformats.org/drawingml/2006/table">
            <a:tbl>
              <a:tblPr/>
              <a:tblGrid>
                <a:gridCol w="2468880"/>
                <a:gridCol w="3017520"/>
                <a:gridCol w="315468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Компонент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Формула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Пример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Веб-хостинг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Цена VM/PaaS × часы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1 инстанс × 730 ч/мес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База данных (DBaaS)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Тариф × часы + бэкапы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db.small × 730 ч + 20 ГБ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Хранилище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ГБ-месяц + запросы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50 ГБ файлов + бэкапы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Трафик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ГБ исходящего трафика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100–300 ГБ/мес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Мониторинг / логи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Объём логов/метрик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5–20 ГБ логов/мес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84048" y="4251960"/>
            <a:ext cx="8366760" cy="685800"/>
          </a:xfrm>
          <a:prstGeom prst="rect">
            <a:avLst/>
          </a:prstGeom>
          <a:solidFill>
            <a:srgbClr val="0D1B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2511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4297680"/>
            <a:ext cx="7543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pay-as-you-go: прозрачный контроль бюджета — вы платите только за фактическое потребление и можете в любой момент скорректировать расходы.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1A4FA0">
              <a:alpha val="20000"/>
            </a:srgbClr>
          </a:solidFill>
          <a:ln w="12700">
            <a:solidFill>
              <a:srgbClr val="1A4FA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743200"/>
            <a:ext cx="2560320" cy="256032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11480" y="1051560"/>
            <a:ext cx="8321040" cy="804672"/>
          </a:xfrm>
          <a:prstGeom prst="rect">
            <a:avLst/>
          </a:prstGeom>
          <a:solidFill>
            <a:srgbClr val="12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51560"/>
            <a:ext cx="73152" cy="80467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1556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078992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Облачная архитектура «сайт + БД» позволяет быстро запустить сервис и легко масштабировать нагрузку без капитальных затрат на оборудование.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011680"/>
            <a:ext cx="8321040" cy="804672"/>
          </a:xfrm>
          <a:prstGeom prst="rect">
            <a:avLst/>
          </a:prstGeom>
          <a:solidFill>
            <a:srgbClr val="12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" y="2011680"/>
            <a:ext cx="73152" cy="80467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7568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039112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Отказоустойчивость достигается через зоны доступности (AZ), репликацию базы данных и резервные копии с point-in-time restore.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11480" y="2971800"/>
            <a:ext cx="8321040" cy="804672"/>
          </a:xfrm>
          <a:prstGeom prst="rect">
            <a:avLst/>
          </a:prstGeom>
          <a:solidFill>
            <a:srgbClr val="12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11480" y="2971800"/>
            <a:ext cx="73152" cy="80467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358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2999232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обеспечивается IAM, сегментацией сети (VPC), шифрованием данных в пути и на диске, а также логированием всех событий.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11480" y="3931920"/>
            <a:ext cx="8321040" cy="804672"/>
          </a:xfrm>
          <a:prstGeom prst="rect">
            <a:avLst/>
          </a:prstGeom>
          <a:solidFill>
            <a:srgbClr val="12204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11480" y="3931920"/>
            <a:ext cx="73152" cy="804672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9592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959352"/>
            <a:ext cx="7498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pay-as-you-go даёт прозрачный контроль затрат — бюджетные лимиты и теги позволяют отслеживать расходы в реальном времени.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17"/>
          <p:cNvSpPr/>
          <p:nvPr/>
        </p:nvSpPr>
        <p:spPr>
          <a:xfrm>
            <a:off x="457200" y="477316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 Готов ответить на вопросы.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Облачные вычисления</dc:title>
  <dc:subject>PptxGenJS Presentation</dc:subject>
  <dc:creator>Сағымбай Саят</dc:creator>
  <cp:lastModifiedBy>Сағымбай Саят</cp:lastModifiedBy>
  <cp:revision>1</cp:revision>
  <dcterms:created xsi:type="dcterms:W3CDTF">2026-04-07T08:46:10Z</dcterms:created>
  <dcterms:modified xsi:type="dcterms:W3CDTF">2026-04-07T08:46:10Z</dcterms:modified>
</cp:coreProperties>
</file>