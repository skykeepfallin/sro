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57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56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3667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6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4902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68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55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0775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52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064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5999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111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676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70122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140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558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734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91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40FFABB-F22A-48E1-AF68-E1B328420094}" type="datetimeFigureOut">
              <a:rPr lang="ru-KZ" smtClean="0"/>
              <a:t>08.04.2026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1B0173B-270C-43A4-9086-ACDF07C42EE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8473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adlet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№1 Выбор темы проекта</a:t>
            </a:r>
            <a:r>
              <a:rPr lang="en-US" sz="2400" dirty="0"/>
              <a:t>,</a:t>
            </a:r>
            <a:r>
              <a:rPr lang="ru-RU" sz="2400" dirty="0"/>
              <a:t> определение цели и задач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3153033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D37AD-10D8-4B90-980D-B5C44AF1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7B9F3B-62FC-4062-BEB9-A2CA1CDB0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</a:t>
            </a:r>
            <a:r>
              <a:rPr lang="en-US" dirty="0"/>
              <a:t>. </a:t>
            </a:r>
            <a:r>
              <a:rPr lang="ru-RU" dirty="0"/>
              <a:t>Отобрать наиболее эффективные облачные инструменты для организации совместного обучения.</a:t>
            </a:r>
          </a:p>
          <a:p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 Изучить понятие и возможности облачных сервисов (Google </a:t>
            </a:r>
            <a:r>
              <a:rPr lang="ru-RU" dirty="0" err="1"/>
              <a:t>Workspace</a:t>
            </a:r>
            <a:r>
              <a:rPr lang="ru-RU" dirty="0"/>
              <a:t>, Microsoft 365, облачные хранилища)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98442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FBFE7-BA9B-4E28-96CA-9295CA04B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Проекта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710DFF-2637-411A-A6C9-1AB6A0119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</a:t>
            </a:r>
            <a:r>
              <a:rPr lang="en-US" dirty="0"/>
              <a:t>. </a:t>
            </a:r>
            <a:r>
              <a:rPr lang="ru-RU" dirty="0"/>
              <a:t>Ознакомиться с понятием облачных сервисов и их видами.</a:t>
            </a:r>
          </a:p>
          <a:p>
            <a:r>
              <a:rPr lang="en-US" dirty="0"/>
              <a:t>2. </a:t>
            </a:r>
            <a:r>
              <a:rPr lang="ru-RU" dirty="0"/>
              <a:t>Проанализировать возможности современных облачных сервисов, применяемых в образовательной среде.</a:t>
            </a:r>
            <a:endParaRPr lang="en-US" dirty="0"/>
          </a:p>
          <a:p>
            <a:r>
              <a:rPr lang="en-US" dirty="0"/>
              <a:t>3. </a:t>
            </a:r>
            <a:r>
              <a:rPr lang="ru-RU" dirty="0"/>
              <a:t>Определить преимущества использования облачных технологий в образовательном процессе.</a:t>
            </a:r>
            <a:endParaRPr lang="en-US" dirty="0"/>
          </a:p>
          <a:p>
            <a:r>
              <a:rPr lang="en-US" dirty="0"/>
              <a:t>4. </a:t>
            </a:r>
            <a:r>
              <a:rPr lang="ru-RU" dirty="0"/>
              <a:t>На основе проведённого анализа сформулировать рекомендации по использованию облачных технологий в образовательной деятельности.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57336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1190296"/>
            <a:ext cx="5163208" cy="242263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№2 Написание краткой аннотации проекта</a:t>
            </a:r>
          </a:p>
          <a:p>
            <a:r>
              <a:rPr lang="ru-RU" sz="2400" dirty="0"/>
              <a:t>(для чего на кого ориентирован и на что направлен	данный проект)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42496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8AD3D-4CF2-4DE9-B22D-2ACE07882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Аннотация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9EF635-919C-4393-B4A8-830E63ADD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Данный проект направлен на изучение возможностей использования облачных сервисов в учебном процессе </a:t>
            </a:r>
          </a:p>
          <a:p>
            <a:r>
              <a:rPr lang="ru-RU" dirty="0"/>
              <a:t>В рамках проекта рассматривается, как облачные технологии могут помочь сделать обучение более удобным и эффективным, улучшить общение между обучающимися, развить умение работать в команде, а также повысить уровень владения цифровыми навыками, необходимыми в современной образовательной среде.</a:t>
            </a:r>
          </a:p>
        </p:txBody>
      </p:sp>
    </p:spTree>
    <p:extLst>
      <p:ext uri="{BB962C8B-B14F-4D97-AF65-F5344CB8AC3E}">
        <p14:creationId xmlns:p14="http://schemas.microsoft.com/office/powerpoint/2010/main" val="45600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№</a:t>
            </a:r>
            <a:r>
              <a:rPr lang="en-US" sz="2400" dirty="0"/>
              <a:t>3 </a:t>
            </a:r>
            <a:r>
              <a:rPr lang="ru-RU" sz="2400" dirty="0"/>
              <a:t>Подбор содержания учебного материала в соответствии с задачами проекта; выбор инструментов, необходимых для реализации проекта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127296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028C2-04D2-4304-9AF6-74C1CC11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Подбор содержания проекта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BF93FB-0A59-49CF-BBA5-E0BCB4A7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Содержание проекта должно соответствовать целям и задачам исследования, направленного на изучение и анализ облачных сервисов, применяемых в обучении в сотрудничестве. </a:t>
            </a:r>
          </a:p>
          <a:p>
            <a:r>
              <a:rPr lang="ru-RU" dirty="0"/>
              <a:t>Материал проекта ориентирован на раскрытие понятия облачных технологий, классификацию их видов, а также анализ функциональных возможностей современных облачных сервисов, используемых в образовательной среде для организации совместной учебной деятельности. </a:t>
            </a:r>
          </a:p>
          <a:p>
            <a:r>
              <a:rPr lang="ru-RU" dirty="0"/>
              <a:t>В работе рассматриваются преимущества применения облачных технологий в образовательном процессе и формулируются рекомендации по их использованию в обучении в сотрудничестве. Проект имеет чёткую логическую структуру, изложен в рамках научного стиля и реализуется с применением методов анализа, сравнения и обобщения, а также с использованием современных облачных инструментов, обеспечивающих эффективную проектную и учебную деятельность.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74300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E5729-BEED-4839-8930-DF638681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необходимых инструментов.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CA89D-8CE9-4D9F-AA8D-3D836916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ходе проектной деятельности по изучению возможностей облачных сервисов в обучении в сотрудничестве целесообразно использовать совокупность научных методов, методик и практического опыта. </a:t>
            </a:r>
          </a:p>
          <a:p>
            <a:r>
              <a:rPr lang="ru-RU" dirty="0"/>
              <a:t>В рамках исследования применяются методы анализа и обобщения научных источников, сравнение функциональных возможностей облачных сервисов, а также элементы междисциплинарного подхода, учитывающего особенности педагогики и информационных технологий. </a:t>
            </a:r>
          </a:p>
          <a:p>
            <a:r>
              <a:rPr lang="ru-RU" dirty="0"/>
              <a:t>Основными эмпирическими методами исследования являются наблюдение за процессом совместной учебной деятельности, анкетирование обучающихся и педагогов, а также практическое использование облачных сервисов в образовательной среде. Для реализации проекта используются современные облачные инструменты, обеспечивающие совместную работу, хранение данных и коммуникацию участников образовательного процесса.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700341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№4 Подбор ресурсов, соответствующих облачному сервису, которые послужат основой для реализации </a:t>
            </a:r>
          </a:p>
          <a:p>
            <a:r>
              <a:rPr lang="ru-RU" sz="2400" dirty="0"/>
              <a:t>проекта 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245024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F4C72-2AF7-4F70-AA07-212843D6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Облачные ресурсы и сервисы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62A27E-6115-4FA3-81F0-99ED60161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Google Workspace for Education(Google Docs, Sheets, Slides, Drive) — </a:t>
            </a:r>
            <a:r>
              <a:rPr lang="ru-RU" dirty="0"/>
              <a:t>совместное редактирование, хранение и обмен учебными материалами.</a:t>
            </a:r>
          </a:p>
          <a:p>
            <a:r>
              <a:rPr lang="en-US" dirty="0"/>
              <a:t>Microsoft 365 (Education)(Word Online, PowerPoint Online, OneDrive, Teams) — </a:t>
            </a:r>
            <a:r>
              <a:rPr lang="ru-RU" dirty="0"/>
              <a:t>командная работа, онлайн-общение, управление проектами.</a:t>
            </a:r>
          </a:p>
          <a:p>
            <a:pPr marL="0" indent="0">
              <a:buNone/>
            </a:pPr>
            <a:r>
              <a:rPr lang="ru-RU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953987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39A75-131B-4BC2-B466-E8D24EE8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Google docs, Google drive</a:t>
            </a:r>
            <a:br>
              <a:rPr lang="en-US" dirty="0"/>
            </a:br>
            <a:r>
              <a:rPr lang="en-US" dirty="0"/>
              <a:t>Google sheets, Google slides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979089C-C46F-4F25-9753-44A82EDE6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3133264"/>
            <a:ext cx="2133600" cy="214312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0A2369-16F2-4873-B0B3-91986D191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2" y="3133264"/>
            <a:ext cx="2847975" cy="16002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50F5A2-6A5E-4627-8E89-C36A5DD41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77" y="3068934"/>
            <a:ext cx="2847975" cy="245358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564FA19-4F95-4272-9B72-2DDA42FDE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951" y="3068935"/>
            <a:ext cx="2171939" cy="23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2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A2FE2-E02A-4665-AC8B-A547846C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Word, </a:t>
            </a:r>
            <a:r>
              <a:rPr lang="en-US" dirty="0" err="1"/>
              <a:t>Powerpoint</a:t>
            </a:r>
            <a:br>
              <a:rPr lang="en-US" dirty="0"/>
            </a:br>
            <a:r>
              <a:rPr lang="en-US" dirty="0" err="1"/>
              <a:t>Onedrive</a:t>
            </a:r>
            <a:r>
              <a:rPr lang="en-US" dirty="0"/>
              <a:t>, Teams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84F6F1B-B059-4E66-BA56-95C360182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702" y="2933776"/>
            <a:ext cx="3172268" cy="265784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CC9012-20B4-446E-9DE4-9B808CD53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971" y="2933777"/>
            <a:ext cx="2885552" cy="27609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897BDE-406E-4E4B-BF84-3DC4377F5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032" y="2933776"/>
            <a:ext cx="3743847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54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2400" dirty="0"/>
              <a:t>СРО №5“Разработка структуры проекта”</a:t>
            </a:r>
          </a:p>
          <a:p>
            <a:br>
              <a:rPr lang="ru-RU" sz="2400" dirty="0"/>
            </a:b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351163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F9CD6-682E-44DA-939F-FAE342AF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F699DE-D02E-4991-9197-B9981B4D9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актуальности темы, формулировка цели и задач проекта, определение объекта и предмета исследования, описание методов работы.</a:t>
            </a:r>
          </a:p>
          <a:p>
            <a:pPr marL="0" indent="0">
              <a:buNone/>
            </a:pP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исследования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научных источников по теме, рассмотрение ключевых понятий и подходов, обзор существующих решений и технологий.</a:t>
            </a:r>
          </a:p>
          <a:p>
            <a:pPr marL="0" indent="0">
              <a:buNone/>
            </a:pP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Проектная (практическая) часть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 разработки проекта, используемых инструментов и технологий, характеристика создаваемого продукта или модели.</a:t>
            </a:r>
          </a:p>
          <a:p>
            <a:pPr marL="0" indent="0">
              <a:buNone/>
            </a:pP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оценка результатов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 полученных результатов, их анализ, оценка эффективности разработанного решения, выявление преимуществ и возможных ограничений.</a:t>
            </a:r>
          </a:p>
          <a:p>
            <a:pPr marL="0" indent="0">
              <a:buNone/>
            </a:pP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и перспективы развития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проделанной работы, выводы по поставленным задачам, рекомендации и направления дальнейшего совершенствования проекта.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ABF231-75AA-489F-9855-55805CEBE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04" y="743016"/>
            <a:ext cx="2685327" cy="154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2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43B8D-BB61-431D-AD86-CCD1A74A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Проектная(практическая) часть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F7C994-4C4C-4397-8CE2-CEEE6F760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Практическая значимость моего проекта заключается в том, что в процессе его выполнения я научусь эффективно использовать облачные сервисы для организации обучения в сотрудничестве. Работа над проектом даст мне практический опыт внедрения облачных технологий в образовательный процесс, что особенно важно для меня как будущего учителя информатики. Я понимаю, что современный педагог должен быть готов к использованию актуальных цифровых решений и уметь организовывать обучение с применением современных технологий.</a:t>
            </a:r>
          </a:p>
          <a:p>
            <a:r>
              <a:rPr lang="ru-RU" dirty="0"/>
              <a:t>Это особенно актуально для преподавания информатики, поскольку содержание школьного курса часто обновляется: появляются новые темы, инструменты и программные средства.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78364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2400" dirty="0"/>
              <a:t>СРО №6-7“Разработка отдельных компонентов 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2400" dirty="0"/>
              <a:t>проектной работы, необходимых для установки на разрабатываемом ресурсе”</a:t>
            </a:r>
          </a:p>
          <a:p>
            <a:br>
              <a:rPr lang="ru-RU" sz="2400" dirty="0"/>
            </a:b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3389588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BBAB9-AD4D-44E5-A0DD-FAB046C2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2800" dirty="0"/>
              <a:t>Разработка отдельных компонентов </a:t>
            </a:r>
            <a:br>
              <a:rPr lang="ru-RU" sz="2800" dirty="0"/>
            </a:br>
            <a:r>
              <a:rPr lang="ru-RU" sz="2800" dirty="0"/>
              <a:t>проектной работы</a:t>
            </a:r>
            <a:endParaRPr lang="ru-KZ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007A3-E371-4FBD-9424-7D6C77C0D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30808"/>
            <a:ext cx="9601196" cy="3318936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Мой проект будет реализован на платформе </a:t>
            </a:r>
            <a:r>
              <a:rPr lang="ru-RU" dirty="0" err="1"/>
              <a:t>Padlet</a:t>
            </a:r>
            <a:r>
              <a:rPr lang="ru-RU" dirty="0"/>
              <a:t> с размещением учебных материалов по теме облачных сервисов и инструкций для совместной работы.</a:t>
            </a:r>
            <a:br>
              <a:rPr lang="ru-RU" dirty="0"/>
            </a:br>
            <a:r>
              <a:rPr lang="ru-RU" dirty="0"/>
              <a:t>В рамках проекта будут разработаны групповые и интерактивные задания с использованием совместных досок, комментариев и обмена файлами.</a:t>
            </a:r>
            <a:br>
              <a:rPr lang="ru-RU" dirty="0"/>
            </a:br>
            <a:r>
              <a:rPr lang="ru-RU" dirty="0"/>
              <a:t>Также будет предусмотрен контрольно-оценочный компонент через онлайн-обсуждение, самооценку и обратную связь участников.</a:t>
            </a: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25FBB4-1F80-4664-B2DC-D8E87369D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407" y="685800"/>
            <a:ext cx="2437183" cy="16726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77DB17-CFDA-4D80-8F08-9646415C2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23" y="1143000"/>
            <a:ext cx="1956239" cy="95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72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№8-9“Практическая разработка электронного образовательного ресурса по выбранной теме.</a:t>
            </a:r>
          </a:p>
          <a:p>
            <a:r>
              <a:rPr lang="ru-RU" sz="2400" dirty="0"/>
              <a:t>Представление проекта”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4186102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62E26-2304-4F83-9C33-9D5A216E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ресурса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77536C-CB7A-4D51-B408-216B1F3C1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ходе данного этапа проекта необходимо разработать образовательный ресурс по теме </a:t>
            </a:r>
            <a:r>
              <a:rPr lang="ru-RU" b="1" dirty="0"/>
              <a:t>«Облачные сервисы для использования в обучении в сотрудничестве»</a:t>
            </a:r>
            <a:r>
              <a:rPr lang="ru-RU" dirty="0"/>
              <a:t> с применением </a:t>
            </a:r>
            <a:r>
              <a:rPr lang="ru-RU" dirty="0" err="1"/>
              <a:t>Padlet</a:t>
            </a:r>
            <a:r>
              <a:rPr lang="ru-RU" dirty="0"/>
              <a:t>. Требуется создать структуру и содержание ресурса, подобрать подходящий облачный сервис для его размещения, загрузить подготовленные материалы на платформу и проверить корректность работы всех элементов. Также необходимо убедиться, что ресурс удобен для пользователей и обеспечивает эффективное использование в учебном процессе.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144429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35B92-4EDD-4767-9400-DC96D311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Padlet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029B3A-B7ED-4E1F-89B4-3E324690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Для начала работы с </a:t>
            </a:r>
            <a:r>
              <a:rPr lang="ru-RU" dirty="0" err="1"/>
              <a:t>Padlet</a:t>
            </a:r>
            <a:r>
              <a:rPr lang="ru-RU" dirty="0"/>
              <a:t> необходимо перейти на официальный сайт </a:t>
            </a:r>
            <a:r>
              <a:rPr lang="ru-RU" b="1" dirty="0">
                <a:hlinkClick r:id="rId2"/>
              </a:rPr>
              <a:t>https://padlet.com</a:t>
            </a:r>
            <a:r>
              <a:rPr lang="ru-RU" dirty="0"/>
              <a:t>. Затем нужно выполнить вход в систему, используя существующий аккаунт (Google, Microsoft или </a:t>
            </a:r>
            <a:r>
              <a:rPr lang="ru-RU" dirty="0" err="1"/>
              <a:t>email</a:t>
            </a:r>
            <a:r>
              <a:rPr lang="ru-RU" dirty="0"/>
              <a:t>) либо создать новый аккаунт и подтвердить регистрацию. После авторизации откроется главная страница сервиса.</a:t>
            </a:r>
          </a:p>
          <a:p>
            <a:pPr marL="0" indent="0">
              <a:buNone/>
            </a:pPr>
            <a:r>
              <a:rPr lang="ru-RU" dirty="0"/>
              <a:t>Далее в рабочем окне нужно нажать кнопку </a:t>
            </a:r>
            <a:r>
              <a:rPr lang="ru-RU" b="1" dirty="0"/>
              <a:t>“</a:t>
            </a:r>
            <a:r>
              <a:rPr lang="ru-RU" b="1" dirty="0" err="1"/>
              <a:t>Create</a:t>
            </a:r>
            <a:r>
              <a:rPr lang="ru-RU" b="1" dirty="0"/>
              <a:t> </a:t>
            </a:r>
            <a:r>
              <a:rPr lang="ru-RU" b="1" dirty="0" err="1"/>
              <a:t>Padlet</a:t>
            </a:r>
            <a:r>
              <a:rPr lang="ru-RU" b="1" dirty="0"/>
              <a:t>”</a:t>
            </a:r>
            <a:r>
              <a:rPr lang="ru-RU" dirty="0"/>
              <a:t> для создания новой доски. После этого необходимо выбрать подходящий шаблон доски (например, Wall, Grid или </a:t>
            </a:r>
            <a:r>
              <a:rPr lang="ru-RU" dirty="0" err="1"/>
              <a:t>Canvas</a:t>
            </a:r>
            <a:r>
              <a:rPr lang="ru-RU" dirty="0"/>
              <a:t>), который будет использоваться для размещения учебных материалов.</a:t>
            </a:r>
          </a:p>
          <a:p>
            <a:pPr marL="0" indent="0">
              <a:buNone/>
            </a:pPr>
            <a:r>
              <a:rPr lang="ru-RU" dirty="0"/>
              <a:t>Затем следует указать </a:t>
            </a:r>
            <a:r>
              <a:rPr lang="ru-RU" b="1" dirty="0"/>
              <a:t>название проекта</a:t>
            </a:r>
            <a:r>
              <a:rPr lang="ru-RU" dirty="0"/>
              <a:t>, добавить </a:t>
            </a:r>
            <a:r>
              <a:rPr lang="ru-RU" b="1" dirty="0"/>
              <a:t>описание темы</a:t>
            </a:r>
            <a:r>
              <a:rPr lang="ru-RU" dirty="0"/>
              <a:t> и при необходимости настроить внешний вид доски (фон, формат отображения записей). После завершения настройки можно начать наполнять доску содержанием: добавлять текстовые записи, изображения, ссылки, видео и другие материалы, которые будут использоваться в образовательном ресурсе.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993971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8E473-87CB-42E2-B958-C772ADBE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доски </a:t>
            </a:r>
            <a:r>
              <a:rPr lang="en-US" dirty="0"/>
              <a:t>Padlet</a:t>
            </a:r>
            <a:endParaRPr lang="ru-KZ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4D33433-13F7-4934-ACDD-C33B18887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3241" y="2500293"/>
            <a:ext cx="5620407" cy="3432213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201DF1-440B-4865-8E9C-B2AA9BBDA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52" y="2556932"/>
            <a:ext cx="5008179" cy="33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48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10-11 “Рассмотрение методов доступа к</a:t>
            </a:r>
          </a:p>
          <a:p>
            <a:r>
              <a:rPr lang="ru-RU" sz="2400" dirty="0"/>
              <a:t>академическому облаку”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3859133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92E01-3243-4537-9270-632257E3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методы доступа к академическому облаку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F8696C-C323-4F14-83D6-1C5CA663B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1. Через веб-браузер (</a:t>
            </a:r>
            <a:r>
              <a:rPr lang="ru-RU" dirty="0" err="1"/>
              <a:t>SaaS</a:t>
            </a:r>
            <a:r>
              <a:rPr lang="ru-RU" dirty="0"/>
              <a:t>)</a:t>
            </a:r>
            <a:r>
              <a:rPr lang="en-US" dirty="0"/>
              <a:t>. </a:t>
            </a:r>
            <a:r>
              <a:rPr lang="ru-RU" dirty="0"/>
              <a:t>Доступ к сервисам через сайт</a:t>
            </a:r>
            <a:r>
              <a:rPr lang="en-US" dirty="0"/>
              <a:t>. </a:t>
            </a:r>
            <a:r>
              <a:rPr lang="ru-RU" dirty="0"/>
              <a:t>Пример: Google </a:t>
            </a:r>
            <a:r>
              <a:rPr lang="ru-RU" dirty="0" err="1"/>
              <a:t>Classroom</a:t>
            </a:r>
            <a:r>
              <a:rPr lang="ru-RU" dirty="0"/>
              <a:t> Самый простой и распространённый способ</a:t>
            </a:r>
          </a:p>
          <a:p>
            <a:r>
              <a:rPr lang="ru-RU" dirty="0"/>
              <a:t>2. Через клиентские приложения</a:t>
            </a:r>
            <a:r>
              <a:rPr lang="en-US" dirty="0"/>
              <a:t>. </a:t>
            </a:r>
            <a:r>
              <a:rPr lang="ru-RU" dirty="0"/>
              <a:t>Установка программ (</a:t>
            </a:r>
            <a:r>
              <a:rPr lang="ru-RU" dirty="0" err="1"/>
              <a:t>Teams</a:t>
            </a:r>
            <a:r>
              <a:rPr lang="ru-RU" dirty="0"/>
              <a:t>, облачные IDE)Более широкий функционал</a:t>
            </a:r>
          </a:p>
          <a:p>
            <a:r>
              <a:rPr lang="ru-RU" dirty="0"/>
              <a:t>3. Через виртуальные рабочие столы (VDI)Полноценный удалённый компьютер в облаке</a:t>
            </a:r>
            <a:r>
              <a:rPr lang="en-US" dirty="0"/>
              <a:t>. </a:t>
            </a:r>
            <a:r>
              <a:rPr lang="ru-RU" dirty="0"/>
              <a:t>Используется для сложных программ (например, моделирование)</a:t>
            </a:r>
          </a:p>
          <a:p>
            <a:r>
              <a:rPr lang="ru-RU" dirty="0"/>
              <a:t>4. Через API и платформы (</a:t>
            </a:r>
            <a:r>
              <a:rPr lang="ru-RU" dirty="0" err="1"/>
              <a:t>PaaS</a:t>
            </a:r>
            <a:r>
              <a:rPr lang="ru-RU" dirty="0"/>
              <a:t>/</a:t>
            </a:r>
            <a:r>
              <a:rPr lang="ru-RU" dirty="0" err="1"/>
              <a:t>IaaS</a:t>
            </a:r>
            <a:r>
              <a:rPr lang="ru-RU" dirty="0"/>
              <a:t>)Для разработчиков и исследователей</a:t>
            </a:r>
            <a:r>
              <a:rPr lang="en-US" dirty="0"/>
              <a:t>. </a:t>
            </a:r>
            <a:r>
              <a:rPr lang="ru-RU" dirty="0"/>
              <a:t>Доступ к вычислительным ресурсам и данным</a:t>
            </a:r>
          </a:p>
          <a:p>
            <a:r>
              <a:rPr lang="ru-RU" dirty="0"/>
              <a:t>5. Гибридный доступ</a:t>
            </a:r>
            <a:r>
              <a:rPr lang="en-US" dirty="0"/>
              <a:t>.</a:t>
            </a:r>
            <a:r>
              <a:rPr lang="ru-RU" dirty="0"/>
              <a:t>Комбинация локальных и облачных ресурсов</a:t>
            </a:r>
            <a:r>
              <a:rPr lang="en-US" dirty="0"/>
              <a:t>. </a:t>
            </a:r>
            <a:r>
              <a:rPr lang="ru-RU" dirty="0"/>
              <a:t>Часто используется в университетах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23158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12 “Обзор интернет ресурсов и разработка доклада по теме Виртуализация и облачные технологии”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3370306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25B74-9F4E-414F-B547-7631E79A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Понятие виртуализации и облачных технологий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3B9D4-0FE6-4B89-A39F-4282AA3A5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Виртуализация</a:t>
            </a:r>
            <a:r>
              <a:rPr lang="ru-RU" dirty="0"/>
              <a:t> — это технология создания виртуальных (программных) версий ресурсов, таких как серверы, операционные системы или сети. Она позволяет запускать несколько виртуальных машин на одном физическом устройстве.</a:t>
            </a:r>
          </a:p>
          <a:p>
            <a:r>
              <a:rPr lang="ru-RU" b="1" dirty="0"/>
              <a:t>Облачные технологии</a:t>
            </a:r>
            <a:r>
              <a:rPr lang="ru-RU" dirty="0"/>
              <a:t> — это предоставление вычислительных ресурсов через интернет. Пользователь получает доступ к данным и программам без необходимости установки их на свой компьютер.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990874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C1503-CDCD-44C5-BE1D-2AD29B0F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облачных сервисов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EAD6C5-1EF9-4EC2-9256-9832491B5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Существуют три основные модели облачных услуг: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IaaS</a:t>
            </a:r>
            <a:r>
              <a:rPr lang="ru-RU" b="1" dirty="0"/>
              <a:t> (Infrastructure </a:t>
            </a:r>
            <a:r>
              <a:rPr lang="ru-RU" b="1" dirty="0" err="1"/>
              <a:t>as</a:t>
            </a:r>
            <a:r>
              <a:rPr lang="ru-RU" b="1" dirty="0"/>
              <a:t> a Service)</a:t>
            </a:r>
            <a:r>
              <a:rPr lang="ru-RU" dirty="0"/>
              <a:t> — предоставляет виртуальные серверы и инфраструктуру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PaaS</a:t>
            </a:r>
            <a:r>
              <a:rPr lang="ru-RU" b="1" dirty="0"/>
              <a:t> (Platform </a:t>
            </a:r>
            <a:r>
              <a:rPr lang="ru-RU" b="1" dirty="0" err="1"/>
              <a:t>as</a:t>
            </a:r>
            <a:r>
              <a:rPr lang="ru-RU" b="1" dirty="0"/>
              <a:t> a Service)</a:t>
            </a:r>
            <a:r>
              <a:rPr lang="ru-RU" dirty="0"/>
              <a:t> — предоставляет платформу для разработки приложений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SaaS</a:t>
            </a:r>
            <a:r>
              <a:rPr lang="ru-RU" b="1" dirty="0"/>
              <a:t> (Software </a:t>
            </a:r>
            <a:r>
              <a:rPr lang="ru-RU" b="1" dirty="0" err="1"/>
              <a:t>as</a:t>
            </a:r>
            <a:r>
              <a:rPr lang="ru-RU" b="1" dirty="0"/>
              <a:t> a Service)</a:t>
            </a:r>
            <a:r>
              <a:rPr lang="ru-RU" dirty="0"/>
              <a:t> — готовые программы, доступные через интернет </a:t>
            </a:r>
          </a:p>
          <a:p>
            <a:r>
              <a:rPr lang="ru-RU" dirty="0"/>
              <a:t>Наиболее распространённой в образовании является модель </a:t>
            </a:r>
            <a:r>
              <a:rPr lang="ru-RU" dirty="0" err="1"/>
              <a:t>SaaS</a:t>
            </a:r>
            <a:r>
              <a:rPr lang="ru-RU" dirty="0"/>
              <a:t>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67161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F4838-278C-4A73-BC78-C37EEE94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Обзор интернет-ресурсов (облачных сервисов)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6C6D0E-31DF-4FD1-9DB3-5ABCA2B37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обучения и совместной работы используются облачные сервисы: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Google </a:t>
            </a:r>
            <a:r>
              <a:rPr lang="ru-RU" b="1" dirty="0" err="1"/>
              <a:t>Workspace</a:t>
            </a:r>
            <a:r>
              <a:rPr lang="ru-RU" dirty="0"/>
              <a:t> — создание и совместное редактирование документов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Microsoft 365</a:t>
            </a:r>
            <a:r>
              <a:rPr lang="ru-RU" dirty="0"/>
              <a:t> — онлайн-приложения и видеосвязь (</a:t>
            </a:r>
            <a:r>
              <a:rPr lang="ru-RU" dirty="0" err="1"/>
              <a:t>Teams</a:t>
            </a:r>
            <a:r>
              <a:rPr lang="ru-RU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Zoom</a:t>
            </a:r>
            <a:r>
              <a:rPr lang="ru-RU" dirty="0"/>
              <a:t> — проведение онлайн-занятий и конференций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Moodle</a:t>
            </a:r>
            <a:r>
              <a:rPr lang="ru-RU" dirty="0"/>
              <a:t> — платформа для дистанционного обучения и тестирования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Dropbox</a:t>
            </a:r>
            <a:r>
              <a:rPr lang="ru-RU" dirty="0"/>
              <a:t> — облачное хранение и обмен файлами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668209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15DAA-7F9B-4C09-BDED-C1165107D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Преимущества облачных сервисов в обучении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F47370-DD9A-44D4-874E-FB6699340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доступ к материалам из любой точки мира</a:t>
            </a:r>
          </a:p>
          <a:p>
            <a:r>
              <a:rPr lang="ru-RU" dirty="0"/>
              <a:t>возможность совместной работы</a:t>
            </a:r>
          </a:p>
          <a:p>
            <a:r>
              <a:rPr lang="ru-RU" dirty="0"/>
              <a:t>экономия ресурсов (не нужно мощное оборудование)автоматическое обновление программ</a:t>
            </a:r>
          </a:p>
          <a:p>
            <a:r>
              <a:rPr lang="ru-RU" dirty="0"/>
              <a:t>удобство дистанционного обучения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151643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B5B42-A80E-43A3-A705-049CDF16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6B896-EFB3-4C39-BC35-637367A1E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Виртуализация и облачные технологии являются важной частью современной образовательной среды. Они обеспечивают доступность знаний, удобство взаимодействия и новые возможности для обучения. Использование облачных сервисов делает образовательный процесс более гибким, эффективным и современным</a:t>
            </a:r>
            <a:r>
              <a:rPr lang="en-US" dirty="0"/>
              <a:t>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547708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1</a:t>
            </a:r>
            <a:r>
              <a:rPr lang="en-US" sz="2400" dirty="0"/>
              <a:t>4</a:t>
            </a:r>
            <a:r>
              <a:rPr lang="ru-RU" sz="2400" dirty="0"/>
              <a:t> “Основа работы гостевых операционных систем ”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3552955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40C7E-5D32-4380-8EC2-A46BF64D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Гостевые операционные системы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F11869-608D-4F9F-80F6-68A45D36B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Гостевая операционная система</a:t>
            </a:r>
            <a:r>
              <a:rPr lang="ru-RU" dirty="0"/>
              <a:t> — это ОС, установленная внутри виртуальной машины.</a:t>
            </a:r>
          </a:p>
          <a:p>
            <a:r>
              <a:rPr lang="ru-RU" dirty="0"/>
              <a:t> Примеры: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Windows в виртуальной машине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Linux в </a:t>
            </a:r>
            <a:r>
              <a:rPr lang="ru-RU" dirty="0" err="1"/>
              <a:t>VirtualBox</a:t>
            </a:r>
            <a:r>
              <a:rPr lang="ru-RU" dirty="0"/>
              <a:t> </a:t>
            </a:r>
          </a:p>
          <a:p>
            <a:r>
              <a:rPr lang="ru-RU" dirty="0"/>
              <a:t> Возможности: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запуск разных ОС на одном ПК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тестирование программ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обучение администрированию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698708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FC4DD-C261-4D08-93DE-51CF267A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с облачными технологиями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4310D-645E-4CE2-8EF1-B95379AB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Гостевые ОС часто используются в облаке, где виртуальные машины создаются на удалённых серверах.</a:t>
            </a:r>
          </a:p>
          <a:p>
            <a:r>
              <a:rPr lang="ru-RU" dirty="0"/>
              <a:t> Это позволяет: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работать без мощного компьютера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получать доступ к системе через интернет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выполнять лабораторные работы онлайн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586326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942-FCD5-4870-BE03-78EBA78E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E36F7-9D19-4D7E-B71D-C70CBC79D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Гостевые операционные системы и облачные сервисы делают обучение более гибким и современным. Они позволяют выполнять практические задания и работать совместно независимо от местоположения.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630226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66AF9C9-07DE-491F-9831-0045F70A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516" y="764628"/>
            <a:ext cx="5163208" cy="667932"/>
          </a:xfrm>
        </p:spPr>
        <p:txBody>
          <a:bodyPr>
            <a:noAutofit/>
          </a:bodyPr>
          <a:lstStyle/>
          <a:p>
            <a:pPr marL="167005" marR="34925" indent="-6350">
              <a:lnSpc>
                <a:spcPct val="112000"/>
              </a:lnSpc>
              <a:spcAft>
                <a:spcPts val="600"/>
              </a:spcAft>
            </a:pPr>
            <a:b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 «Евразийский Национальный университет имени Л.Н. Гумилева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Институ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цифровых наук и искусственного </a:t>
            </a:r>
            <a:r>
              <a:rPr lang="ru-RU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интелекта</a:t>
            </a:r>
            <a:b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KZ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«Информатика» </a:t>
            </a:r>
            <a:br>
              <a:rPr lang="ru-KZ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Инф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-32</a:t>
            </a:r>
            <a:endParaRPr lang="ru-KZ" sz="1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FC626-4269-469C-B614-315F4376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97" y="5541580"/>
            <a:ext cx="3899338" cy="1166648"/>
          </a:xfrm>
        </p:spPr>
        <p:txBody>
          <a:bodyPr/>
          <a:lstStyle/>
          <a:p>
            <a:r>
              <a:rPr lang="ru-RU" b="1" dirty="0"/>
              <a:t>Проверила</a:t>
            </a:r>
            <a:r>
              <a:rPr lang="en-US" b="1" dirty="0"/>
              <a:t>: 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Давлетова А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r>
              <a:rPr lang="ru-RU" b="1" i="0" dirty="0">
                <a:solidFill>
                  <a:srgbClr val="343434"/>
                </a:solidFill>
                <a:effectLst/>
                <a:latin typeface="Public Sans"/>
              </a:rPr>
              <a:t>Х</a:t>
            </a:r>
            <a:r>
              <a:rPr lang="en-US" b="1" i="0" dirty="0">
                <a:solidFill>
                  <a:srgbClr val="343434"/>
                </a:solidFill>
                <a:effectLst/>
                <a:latin typeface="Public Sans"/>
              </a:rPr>
              <a:t>.</a:t>
            </a:r>
            <a:br>
              <a:rPr lang="ru-RU" b="1" dirty="0"/>
            </a:br>
            <a:r>
              <a:rPr lang="ru-RU" b="1" dirty="0"/>
              <a:t>Выполнил</a:t>
            </a:r>
            <a:r>
              <a:rPr lang="en-US" b="1" dirty="0"/>
              <a:t>: </a:t>
            </a:r>
            <a:r>
              <a:rPr lang="ru-RU" b="1" dirty="0"/>
              <a:t>Иргизбаев Т</a:t>
            </a:r>
            <a:r>
              <a:rPr lang="en-US" b="1" dirty="0"/>
              <a:t>.</a:t>
            </a:r>
            <a:r>
              <a:rPr lang="ru-RU" b="1" dirty="0"/>
              <a:t>К</a:t>
            </a:r>
            <a:r>
              <a:rPr lang="en-US" b="1" dirty="0"/>
              <a:t>.</a:t>
            </a:r>
            <a:endParaRPr lang="ru-KZ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D052-6EE2-4826-9E35-FA12B93A3025}"/>
              </a:ext>
            </a:extLst>
          </p:cNvPr>
          <p:cNvSpPr txBox="1"/>
          <p:nvPr/>
        </p:nvSpPr>
        <p:spPr>
          <a:xfrm>
            <a:off x="2404241" y="2711577"/>
            <a:ext cx="78661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«Облачные сервисы для использования в обучении в сотрудничестве»</a:t>
            </a:r>
            <a:endParaRPr lang="en-US" sz="2400" dirty="0"/>
          </a:p>
          <a:p>
            <a:r>
              <a:rPr lang="ru-RU" sz="2400" dirty="0"/>
              <a:t>СРО 15 “Составление и изложение условий применения в будущей охраняемой работе.”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1553943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85F0C-9950-4E46-8F19-30D04902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Условия применения облачных сервисов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22EE5-D045-4061-9667-7B1D4507E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1. Технические условия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наличие стабильного интернета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доступ к компьютеру или мобильному устройству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использование современных браузеров</a:t>
            </a:r>
          </a:p>
          <a:p>
            <a:r>
              <a:rPr lang="ru-RU" b="1" dirty="0"/>
              <a:t>2. Организационные условия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наличие учетной записи (например, Google </a:t>
            </a:r>
            <a:r>
              <a:rPr lang="ru-RU" dirty="0" err="1"/>
              <a:t>Workspace</a:t>
            </a:r>
            <a:r>
              <a:rPr lang="ru-RU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соблюдение правил работы в системе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распределение ролей в команде 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257972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7F16D-C0CB-4D3E-8548-EC513E51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Педагогические условия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883ECE-A65C-403C-95FF-5EB084BD0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использование сервисов для совместной работы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контроль выполнения заданий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обратная связь между участниками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65329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6DC07-4FE6-4B02-939D-3FA0136E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в будущей профессии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EFD331-3E83-47C5-B466-D03E47CBF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ru-RU" dirty="0"/>
              <a:t>Облачные технологии позволяют: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работать с документами онлайн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взаимодействовать с коллегами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хранить и обрабатывать данные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организовывать удалённую работу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75629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153</TotalTime>
  <Words>2202</Words>
  <Application>Microsoft Office PowerPoint</Application>
  <PresentationFormat>Широкоэкранный</PresentationFormat>
  <Paragraphs>159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Garamond</vt:lpstr>
      <vt:lpstr>Public Sans</vt:lpstr>
      <vt:lpstr>Times New Roman</vt:lpstr>
      <vt:lpstr>Натуральные материалы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Цель проекта</vt:lpstr>
      <vt:lpstr>Задачи Проекта</vt:lpstr>
      <vt:lpstr> НАО «Евразийский Национальный университет имени Л.Н. Гумилева  Институт цифровых наук и искусственного интелекта Кафедра «Информатика»  Группа Инф.о-32</vt:lpstr>
      <vt:lpstr>Аннотация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Подбор содержания проекта</vt:lpstr>
      <vt:lpstr>Выбор необходимых инструментов.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Облачные ресурсы и сервисы</vt:lpstr>
      <vt:lpstr>Google docs, Google drive Google sheets, Google slides</vt:lpstr>
      <vt:lpstr>Word, Powerpoint Onedrive, Teams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Структура проекта</vt:lpstr>
      <vt:lpstr>Проектная(практическая) часть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Разработка отдельных компонентов  проектной работы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Создание ресурса</vt:lpstr>
      <vt:lpstr>Padlet</vt:lpstr>
      <vt:lpstr>Создание доски Padlet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Основные методы доступа к академическому облаку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Понятие виртуализации и облачных технологий</vt:lpstr>
      <vt:lpstr>Модели облачных сервисов</vt:lpstr>
      <vt:lpstr>Обзор интернет-ресурсов (облачных сервисов)</vt:lpstr>
      <vt:lpstr>Преимущества облачных сервисов в обучении</vt:lpstr>
      <vt:lpstr>Заключение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Гостевые операционные системы</vt:lpstr>
      <vt:lpstr>Связь с облачными технологиями</vt:lpstr>
      <vt:lpstr>Заключение</vt:lpstr>
      <vt:lpstr> НАО «Евразийский Национальный университет имени Л.Н. Гумилева Институт цифровых наук и искусственного интелекта Кафедра «Информатика»  Группа Инф.о-32</vt:lpstr>
      <vt:lpstr>Условия применения облачных сервисов</vt:lpstr>
      <vt:lpstr>Педагогические условия</vt:lpstr>
      <vt:lpstr>Применение в будущей профессии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НАО «Евразийский Национальный университет имени Л.Н. Гумилева»  Факультет информационных технологий  Кафедра «Информатика»  Группа Инф.о-32</dc:title>
  <dc:creator>Temirlan Irgzibayev</dc:creator>
  <cp:lastModifiedBy>Temirlan Irgzibayev</cp:lastModifiedBy>
  <cp:revision>25</cp:revision>
  <dcterms:created xsi:type="dcterms:W3CDTF">2026-01-22T14:54:26Z</dcterms:created>
  <dcterms:modified xsi:type="dcterms:W3CDTF">2026-04-08T12:10:12Z</dcterms:modified>
</cp:coreProperties>
</file>