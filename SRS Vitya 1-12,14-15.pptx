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97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embeddedFontLst>
    <p:embeddedFont>
      <p:font typeface="Play" panose="020B0604020202020204" charset="0"/>
      <p:regular r:id="rId45"/>
      <p:bold r:id="rId46"/>
    </p:embeddedFont>
    <p:embeddedFont>
      <p:font typeface="Public Sans" panose="020B0604020202020204" charset="0"/>
      <p:regular r:id="rId47"/>
      <p:bold r:id="rId48"/>
      <p:italic r:id="rId49"/>
      <p:boldItalic r:id="rId50"/>
    </p:embeddedFont>
    <p:embeddedFont>
      <p:font typeface="Teko" panose="020B0604020202020204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3" roundtripDataSignature="AMtx7miF34sdv5nY2hf2KbU8aseixkBF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6CB6F0-19E7-7710-9464-38FB20148B04}" v="870" dt="2026-04-03T12:49:01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customschemas.google.com/relationships/presentationmetadata" Target="metadata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 b="1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8041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marL="914400" lvl="1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marL="1371600" lvl="2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marL="1828800" lvl="3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marL="2286000" lvl="4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4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566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92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92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31" name="Google Shape;31;p9"/>
          <p:cNvCxnSpPr/>
          <p:nvPr/>
        </p:nvCxnSpPr>
        <p:spPr>
          <a:xfrm>
            <a:off x="716281" y="4715234"/>
            <a:ext cx="978862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640080" y="2633472"/>
            <a:ext cx="52120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8041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marL="914400" lvl="1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marL="1371600" lvl="2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marL="1828800" lvl="3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marL="2286000" lvl="4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2"/>
          </p:nvPr>
        </p:nvSpPr>
        <p:spPr>
          <a:xfrm>
            <a:off x="6318928" y="2633472"/>
            <a:ext cx="521208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8041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marL="914400" lvl="1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marL="1371600" lvl="2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marL="1828800" lvl="3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marL="2286000" lvl="4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2"/>
          </p:nvPr>
        </p:nvSpPr>
        <p:spPr>
          <a:xfrm>
            <a:off x="640079" y="3006725"/>
            <a:ext cx="5212080" cy="31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8041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marL="914400" lvl="1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marL="1371600" lvl="2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marL="1828800" lvl="3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marL="2286000" lvl="4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3"/>
          </p:nvPr>
        </p:nvSpPr>
        <p:spPr>
          <a:xfrm>
            <a:off x="6318928" y="2311352"/>
            <a:ext cx="5212080" cy="695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4"/>
          </p:nvPr>
        </p:nvSpPr>
        <p:spPr>
          <a:xfrm>
            <a:off x="6318928" y="3006725"/>
            <a:ext cx="5212080" cy="3191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8041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marL="914400" lvl="1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marL="1371600" lvl="2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marL="1828800" lvl="3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marL="2286000" lvl="4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4936519" y="1031001"/>
            <a:ext cx="6594490" cy="516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3286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36"/>
              <a:buChar char="•"/>
              <a:defRPr sz="2800"/>
            </a:lvl1pPr>
            <a:lvl2pPr marL="914400" lvl="1" indent="-361187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88"/>
              <a:buChar char="•"/>
              <a:defRPr sz="2400"/>
            </a:lvl2pPr>
            <a:lvl3pPr marL="1371600" lvl="2" indent="-339089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40"/>
              <a:buChar char="•"/>
              <a:defRPr sz="2000"/>
            </a:lvl3pPr>
            <a:lvl4pPr marL="1828800" lvl="3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 sz="1800"/>
            </a:lvl4pPr>
            <a:lvl5pPr marL="2286000" lvl="4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 sz="18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640080" y="2972168"/>
            <a:ext cx="3859397" cy="3226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44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>
            <a:spLocks noGrp="1"/>
          </p:cNvSpPr>
          <p:nvPr>
            <p:ph type="pic" idx="2"/>
          </p:nvPr>
        </p:nvSpPr>
        <p:spPr>
          <a:xfrm>
            <a:off x="4937760" y="1033271"/>
            <a:ext cx="6592824" cy="516636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640080" y="2972167"/>
            <a:ext cx="3859397" cy="322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92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44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7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 rot="5400000">
            <a:off x="4302464" y="-1028912"/>
            <a:ext cx="3566160" cy="10890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8041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marL="914400" lvl="1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marL="1371600" lvl="2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marL="1828800" lvl="3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marL="2286000" lvl="4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 rot="5400000">
            <a:off x="7346663" y="2502635"/>
            <a:ext cx="5536884" cy="1811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 rot="5400000">
            <a:off x="2077849" y="-797689"/>
            <a:ext cx="5536884" cy="8412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8041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1pPr>
            <a:lvl2pPr marL="914400" lvl="1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2pPr>
            <a:lvl3pPr marL="1371600" lvl="2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3pPr>
            <a:lvl4pPr marL="1828800" lvl="3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4pPr>
            <a:lvl5pPr marL="2286000" lvl="4" indent="-32804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85" name="Google Shape;85;p17"/>
          <p:cNvCxnSpPr/>
          <p:nvPr/>
        </p:nvCxnSpPr>
        <p:spPr>
          <a:xfrm rot="5400000">
            <a:off x="10872154" y="1192438"/>
            <a:ext cx="978862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  <a:defRPr sz="4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09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4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2804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1699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92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594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594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8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1" name="Google Shape;11;p6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</a:pPr>
            <a:r>
              <a:rPr lang="ru-RU" sz="1900" dirty="0">
                <a:latin typeface="Times New Roman"/>
                <a:ea typeface="Times New Roman"/>
                <a:cs typeface="Times New Roman"/>
                <a:sym typeface="Times New Roman"/>
              </a:rPr>
              <a:t>НАО «Евразийский Национальный университет имени </a:t>
            </a:r>
            <a:br>
              <a:rPr lang="ru-RU" sz="19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900" dirty="0">
                <a:latin typeface="Times New Roman"/>
                <a:ea typeface="Times New Roman"/>
                <a:cs typeface="Times New Roman"/>
                <a:sym typeface="Times New Roman"/>
              </a:rPr>
              <a:t>Л.Н. Гумилева Институт цифровых наук и искусственного </a:t>
            </a:r>
            <a:r>
              <a:rPr lang="ru-RU" sz="1900" dirty="0" err="1">
                <a:latin typeface="Times New Roman"/>
                <a:ea typeface="Times New Roman"/>
                <a:cs typeface="Times New Roman"/>
                <a:sym typeface="Times New Roman"/>
              </a:rPr>
              <a:t>интелекта</a:t>
            </a:r>
            <a:r>
              <a:rPr lang="ru-RU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ru-RU" sz="19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900" dirty="0">
                <a:latin typeface="Times New Roman"/>
                <a:ea typeface="Times New Roman"/>
                <a:cs typeface="Times New Roman"/>
                <a:sym typeface="Times New Roman"/>
              </a:rPr>
              <a:t>Кафедра «Информатика» </a:t>
            </a:r>
            <a:br>
              <a:rPr lang="ru-RU" sz="19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900" dirty="0">
                <a:latin typeface="Times New Roman"/>
                <a:ea typeface="Times New Roman"/>
                <a:cs typeface="Times New Roman"/>
                <a:sym typeface="Times New Roman"/>
              </a:rPr>
              <a:t>Группа Инф.о-32</a:t>
            </a:r>
            <a:endParaRPr sz="1900" dirty="0"/>
          </a:p>
        </p:txBody>
      </p:sp>
      <p:sp>
        <p:nvSpPr>
          <p:cNvPr id="92" name="Google Shape;92;p1"/>
          <p:cNvSpPr txBox="1"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1"/>
              <a:buNone/>
            </a:pPr>
            <a:r>
              <a:rPr lang="ru-RU" sz="1300"/>
              <a:t>"СОЗДАНИЕ УЧЕТНОЙ ЗАПИСИ GOOGLE НА GMAIL”</a:t>
            </a:r>
            <a:endParaRPr sz="13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31"/>
              <a:buNone/>
            </a:pPr>
            <a:r>
              <a:rPr lang="ru-RU" sz="1300"/>
              <a:t>СРО №1 ВЫБОР ТЕМЫ ПРОЕКТА, ОПРЕДЕЛЕНИЕ ЦЕЛИ И ЗАДАЧ</a:t>
            </a:r>
            <a:endParaRPr sz="13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31"/>
              <a:buNone/>
            </a:pPr>
            <a:endParaRPr sz="1300"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l="6441" r="26095" b="-1"/>
          <a:stretch/>
        </p:blipFill>
        <p:spPr>
          <a:xfrm>
            <a:off x="20" y="10"/>
            <a:ext cx="6931132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/>
          <p:nvPr/>
        </p:nvCxnSpPr>
        <p:spPr>
          <a:xfrm>
            <a:off x="7675848" y="4711579"/>
            <a:ext cx="978862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" name="Google Shape;95;p1"/>
          <p:cNvSpPr txBox="1"/>
          <p:nvPr/>
        </p:nvSpPr>
        <p:spPr>
          <a:xfrm>
            <a:off x="7536688" y="6095923"/>
            <a:ext cx="269443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Проверила: </a:t>
            </a:r>
            <a:r>
              <a:rPr lang="ru-RU" sz="16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Давлетова А.Х.</a:t>
            </a:r>
            <a:br>
              <a:rPr lang="ru-RU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Выполнил: Волков В.В.</a:t>
            </a:r>
            <a:endParaRPr sz="16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ru-RU"/>
              <a:t>Цель проекта</a:t>
            </a:r>
            <a:endParaRPr/>
          </a:p>
        </p:txBody>
      </p:sp>
      <p:cxnSp>
        <p:nvCxnSpPr>
          <p:cNvPr id="102" name="Google Shape;102;p2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03" name="Google Shape;103;p2"/>
          <p:cNvGrpSpPr/>
          <p:nvPr/>
        </p:nvGrpSpPr>
        <p:grpSpPr>
          <a:xfrm>
            <a:off x="640079" y="3294295"/>
            <a:ext cx="10890928" cy="2268376"/>
            <a:chOff x="0" y="735245"/>
            <a:chExt cx="10890928" cy="2268376"/>
          </a:xfrm>
        </p:grpSpPr>
        <p:sp>
          <p:nvSpPr>
            <p:cNvPr id="104" name="Google Shape;104;p2"/>
            <p:cNvSpPr/>
            <p:nvPr/>
          </p:nvSpPr>
          <p:spPr>
            <a:xfrm>
              <a:off x="0" y="735245"/>
              <a:ext cx="3063073" cy="1945051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40341" y="1058570"/>
              <a:ext cx="3063073" cy="1945051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397310" y="1115539"/>
              <a:ext cx="2949135" cy="18311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Play"/>
                <a:buNone/>
              </a:pPr>
              <a:r>
                <a:rPr lang="ru-RU" sz="20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Научиться создавать учётную запись Google и электронную почту Gmail для дальнейшего использования сервисов Google.</a:t>
              </a:r>
              <a:endPara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743756" y="735245"/>
              <a:ext cx="3063073" cy="1945051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4084098" y="1058570"/>
              <a:ext cx="3063073" cy="1945051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4141067" y="1115539"/>
              <a:ext cx="2949135" cy="18311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Play"/>
                <a:buNone/>
              </a:pPr>
              <a:r>
                <a:rPr lang="ru-RU" sz="20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Создать пошаговую инструкцию для учеников начальных классов </a:t>
              </a:r>
              <a:endPara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7487513" y="735245"/>
              <a:ext cx="3063073" cy="1945051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7827855" y="1058570"/>
              <a:ext cx="3063073" cy="1945051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7884824" y="1115539"/>
              <a:ext cx="2949135" cy="18311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Play"/>
                <a:buNone/>
              </a:pPr>
              <a:r>
                <a:rPr lang="ru-RU" sz="20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Создать универсальный видео-гайд </a:t>
              </a:r>
              <a:endPara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8" name="Google Shape;118;p3"/>
          <p:cNvSpPr txBox="1">
            <a:spLocks noGrp="1"/>
          </p:cNvSpPr>
          <p:nvPr>
            <p:ph type="title"/>
          </p:nvPr>
        </p:nvSpPr>
        <p:spPr>
          <a:xfrm>
            <a:off x="4410095" y="1179711"/>
            <a:ext cx="335089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</a:pPr>
            <a:r>
              <a:rPr lang="ru-RU" sz="3400"/>
              <a:t>Задачи проекта</a:t>
            </a:r>
            <a:br>
              <a:rPr lang="ru-RU" sz="3400"/>
            </a:br>
            <a:endParaRPr sz="3400"/>
          </a:p>
        </p:txBody>
      </p:sp>
      <p:cxnSp>
        <p:nvCxnSpPr>
          <p:cNvPr id="119" name="Google Shape;119;p3"/>
          <p:cNvCxnSpPr/>
          <p:nvPr/>
        </p:nvCxnSpPr>
        <p:spPr>
          <a:xfrm>
            <a:off x="713232" y="1031001"/>
            <a:ext cx="978862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0" name="Google Shape;120;p3"/>
          <p:cNvGrpSpPr/>
          <p:nvPr/>
        </p:nvGrpSpPr>
        <p:grpSpPr>
          <a:xfrm>
            <a:off x="643269" y="2783145"/>
            <a:ext cx="10884548" cy="3290677"/>
            <a:chOff x="3190" y="224095"/>
            <a:chExt cx="10884548" cy="3290677"/>
          </a:xfrm>
        </p:grpSpPr>
        <p:sp>
          <p:nvSpPr>
            <p:cNvPr id="121" name="Google Shape;121;p3"/>
            <p:cNvSpPr/>
            <p:nvPr/>
          </p:nvSpPr>
          <p:spPr>
            <a:xfrm>
              <a:off x="3190" y="224095"/>
              <a:ext cx="2531290" cy="1518774"/>
            </a:xfrm>
            <a:prstGeom prst="rect">
              <a:avLst/>
            </a:prstGeom>
            <a:solidFill>
              <a:srgbClr val="22C8A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3190" y="224095"/>
              <a:ext cx="2531290" cy="1518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Play"/>
                <a:buNone/>
              </a:pPr>
              <a:r>
                <a:rPr lang="ru-RU" sz="1700" b="0" i="0" u="none" strike="noStrike" cap="none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Изучить понятие учётной записи Google и её назначение.</a:t>
              </a:r>
              <a:endParaRPr sz="1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787609" y="224095"/>
              <a:ext cx="2531290" cy="1518774"/>
            </a:xfrm>
            <a:prstGeom prst="rect">
              <a:avLst/>
            </a:prstGeom>
            <a:solidFill>
              <a:srgbClr val="BE8EC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 txBox="1"/>
            <p:nvPr/>
          </p:nvSpPr>
          <p:spPr>
            <a:xfrm>
              <a:off x="2787609" y="224095"/>
              <a:ext cx="2531290" cy="1518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Play"/>
                <a:buNone/>
              </a:pPr>
              <a:r>
                <a:rPr lang="ru-RU" sz="1700" b="0" i="0" u="none" strike="noStrike" cap="none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Рассмотреть возможности электронной почты Gmail.</a:t>
              </a:r>
              <a:endParaRPr sz="1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5572029" y="224095"/>
              <a:ext cx="2531290" cy="1518774"/>
            </a:xfrm>
            <a:prstGeom prst="rect">
              <a:avLst/>
            </a:prstGeom>
            <a:solidFill>
              <a:srgbClr val="FE7039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 txBox="1"/>
            <p:nvPr/>
          </p:nvSpPr>
          <p:spPr>
            <a:xfrm>
              <a:off x="5572029" y="224095"/>
              <a:ext cx="2531290" cy="1518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Play"/>
                <a:buNone/>
              </a:pPr>
              <a:r>
                <a:rPr lang="ru-RU" sz="1700" b="0" i="0" u="none" strike="noStrike" cap="none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Проанализировать требования к созданию учётной записи Google.</a:t>
              </a:r>
              <a:endParaRPr sz="1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8356448" y="224095"/>
              <a:ext cx="2531290" cy="1518774"/>
            </a:xfrm>
            <a:prstGeom prst="rect">
              <a:avLst/>
            </a:prstGeom>
            <a:solidFill>
              <a:schemeClr val="accent5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8356448" y="224095"/>
              <a:ext cx="2531290" cy="1518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Play"/>
                <a:buNone/>
              </a:pPr>
              <a:r>
                <a:rPr lang="ru-RU" sz="1700" b="0" i="0" u="none" strike="noStrike" cap="none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Разработать пошаговую инструкцию по созданию аккаунта Google на сервисе Gmail.</a:t>
              </a:r>
              <a:endParaRPr sz="1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1395400" y="1995998"/>
              <a:ext cx="2531290" cy="1518774"/>
            </a:xfrm>
            <a:prstGeom prst="rect">
              <a:avLst/>
            </a:prstGeom>
            <a:solidFill>
              <a:srgbClr val="17C16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 txBox="1"/>
            <p:nvPr/>
          </p:nvSpPr>
          <p:spPr>
            <a:xfrm>
              <a:off x="1395400" y="1995998"/>
              <a:ext cx="2531290" cy="1518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Play"/>
                <a:buNone/>
              </a:pPr>
              <a:r>
                <a:rPr lang="ru-RU" sz="1700" b="0" i="0" u="none" strike="noStrike" cap="none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Адаптировать инструкцию для школьников, используя простой и понятный язык.</a:t>
              </a:r>
              <a:endParaRPr sz="1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4179819" y="1995998"/>
              <a:ext cx="2531290" cy="1518774"/>
            </a:xfrm>
            <a:prstGeom prst="rect">
              <a:avLst/>
            </a:prstGeom>
            <a:solidFill>
              <a:srgbClr val="22C8A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4179819" y="1995998"/>
              <a:ext cx="2531290" cy="1518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Play"/>
                <a:buNone/>
              </a:pPr>
              <a:r>
                <a:rPr lang="ru-RU" sz="1700" b="0" i="0" u="none" strike="noStrike" cap="none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Ознакомить с основными правилами безопасности при работе с учётной записью Google.</a:t>
              </a:r>
              <a:endParaRPr sz="1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6964238" y="1995998"/>
              <a:ext cx="2531290" cy="1518774"/>
            </a:xfrm>
            <a:prstGeom prst="rect">
              <a:avLst/>
            </a:prstGeom>
            <a:solidFill>
              <a:srgbClr val="BE8EC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 txBox="1"/>
            <p:nvPr/>
          </p:nvSpPr>
          <p:spPr>
            <a:xfrm>
              <a:off x="6964238" y="1995998"/>
              <a:ext cx="2531290" cy="1518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4750" tIns="64750" rIns="64750" bIns="647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Play"/>
                <a:buNone/>
              </a:pPr>
              <a:r>
                <a:rPr lang="ru-RU" sz="1700" b="0" i="0" u="none" strike="noStrike" cap="none">
                  <a:solidFill>
                    <a:schemeClr val="lt1"/>
                  </a:solidFill>
                  <a:latin typeface="Play"/>
                  <a:ea typeface="Play"/>
                  <a:cs typeface="Play"/>
                  <a:sym typeface="Play"/>
                </a:rPr>
                <a:t>Проверить корректность и удобство инструкции на практике.</a:t>
              </a:r>
              <a:endParaRPr sz="17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4"/>
          <p:cNvGrpSpPr/>
          <p:nvPr/>
        </p:nvGrpSpPr>
        <p:grpSpPr>
          <a:xfrm>
            <a:off x="650536" y="3587875"/>
            <a:ext cx="10890928" cy="2407159"/>
            <a:chOff x="0" y="579500"/>
            <a:chExt cx="10890928" cy="2407159"/>
          </a:xfrm>
        </p:grpSpPr>
        <p:sp>
          <p:nvSpPr>
            <p:cNvPr id="140" name="Google Shape;140;p4"/>
            <p:cNvSpPr/>
            <p:nvPr/>
          </p:nvSpPr>
          <p:spPr>
            <a:xfrm>
              <a:off x="0" y="579500"/>
              <a:ext cx="10890928" cy="1069848"/>
            </a:xfrm>
            <a:prstGeom prst="roundRect">
              <a:avLst>
                <a:gd name="adj" fmla="val 10000"/>
              </a:avLst>
            </a:prstGeom>
            <a:solidFill>
              <a:srgbClr val="CBD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323629" y="820216"/>
              <a:ext cx="588416" cy="58841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235674" y="579500"/>
              <a:ext cx="9655253" cy="10698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 txBox="1"/>
            <p:nvPr/>
          </p:nvSpPr>
          <p:spPr>
            <a:xfrm>
              <a:off x="1235674" y="579500"/>
              <a:ext cx="9655253" cy="10698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225" tIns="113225" rIns="113225" bIns="1132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Play"/>
                <a:buNone/>
              </a:pPr>
              <a:r>
                <a:rPr lang="ru-RU" sz="25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"Создание учетной записи Google на Gmail’’</a:t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1916811"/>
              <a:ext cx="10890928" cy="1069848"/>
            </a:xfrm>
            <a:prstGeom prst="roundRect">
              <a:avLst>
                <a:gd name="adj" fmla="val 10000"/>
              </a:avLst>
            </a:prstGeom>
            <a:solidFill>
              <a:srgbClr val="CBD4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323629" y="2157526"/>
              <a:ext cx="588416" cy="58841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4"/>
            <p:cNvSpPr/>
            <p:nvPr/>
          </p:nvSpPr>
          <p:spPr>
            <a:xfrm>
              <a:off x="1235674" y="1916811"/>
              <a:ext cx="9655253" cy="10698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1235674" y="1916811"/>
              <a:ext cx="9655253" cy="10698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3225" tIns="113225" rIns="113225" bIns="1132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Play"/>
                <a:buNone/>
              </a:pPr>
              <a:r>
                <a:rPr lang="ru-RU" sz="2500" b="0" i="0" u="none" strike="noStrike" cap="none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>СРО №2 Написание краткой аннотации проекта</a:t>
              </a:r>
              <a:endParaRPr sz="25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48" name="Google Shape;148;p4"/>
          <p:cNvSpPr txBox="1"/>
          <p:nvPr/>
        </p:nvSpPr>
        <p:spPr>
          <a:xfrm>
            <a:off x="322326" y="6199631"/>
            <a:ext cx="609447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Проверила</a:t>
            </a:r>
            <a:r>
              <a:rPr lang="ru-RU" sz="16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: </a:t>
            </a:r>
            <a:r>
              <a:rPr lang="ru-RU" sz="16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Давлетова А</a:t>
            </a:r>
            <a:r>
              <a:rPr lang="ru-RU" sz="16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.</a:t>
            </a:r>
            <a:r>
              <a:rPr lang="ru-RU" sz="1600" b="0" i="0" u="none" strike="noStrike" cap="non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Х</a:t>
            </a:r>
            <a:r>
              <a:rPr lang="ru-RU" sz="16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.</a:t>
            </a:r>
            <a:br>
              <a:rPr lang="ru-RU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ru-RU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Выполнил</a:t>
            </a:r>
            <a:r>
              <a:rPr lang="ru-RU" sz="16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:</a:t>
            </a:r>
            <a:r>
              <a:rPr lang="ru-RU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Волков В</a:t>
            </a:r>
            <a:r>
              <a:rPr lang="ru-RU" sz="1600" b="0" i="0" u="none" strike="noStrike" cap="non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.</a:t>
            </a:r>
            <a:r>
              <a:rPr lang="ru-RU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В.</a:t>
            </a:r>
            <a:endParaRPr sz="16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9" name="Google Shape;149;p4"/>
          <p:cNvSpPr txBox="1">
            <a:spLocks noGrp="1"/>
          </p:cNvSpPr>
          <p:nvPr>
            <p:ph type="title"/>
          </p:nvPr>
        </p:nvSpPr>
        <p:spPr>
          <a:xfrm>
            <a:off x="806745" y="1106425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ru-RU" sz="1800" b="0" dirty="0">
                <a:latin typeface="Times New Roman"/>
                <a:ea typeface="Times New Roman"/>
                <a:cs typeface="Times New Roman"/>
                <a:sym typeface="Times New Roman"/>
              </a:rPr>
              <a:t>НАО «Евразийский Национальный университет имени </a:t>
            </a:r>
            <a:br>
              <a:rPr lang="ru-RU" sz="1800" b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 b="0" dirty="0">
                <a:latin typeface="Times New Roman"/>
                <a:ea typeface="Times New Roman"/>
                <a:cs typeface="Times New Roman"/>
                <a:sym typeface="Times New Roman"/>
              </a:rPr>
              <a:t>Л.Н. Гумилева Институт цифровых наук и искусственного </a:t>
            </a:r>
            <a:r>
              <a:rPr lang="ru-RU" sz="1800" b="0" dirty="0" err="1">
                <a:latin typeface="Times New Roman"/>
                <a:ea typeface="Times New Roman"/>
                <a:cs typeface="Times New Roman"/>
                <a:sym typeface="Times New Roman"/>
              </a:rPr>
              <a:t>интелекта</a:t>
            </a:r>
            <a:br>
              <a:rPr lang="ru-RU" sz="1800" b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 b="0" dirty="0">
                <a:latin typeface="Times New Roman"/>
                <a:ea typeface="Times New Roman"/>
                <a:cs typeface="Times New Roman"/>
                <a:sym typeface="Times New Roman"/>
              </a:rPr>
              <a:t>Кафедра «Информатика» </a:t>
            </a:r>
            <a:br>
              <a:rPr lang="ru-RU" sz="1800" b="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800" b="0" dirty="0">
                <a:latin typeface="Times New Roman"/>
                <a:ea typeface="Times New Roman"/>
                <a:cs typeface="Times New Roman"/>
                <a:sym typeface="Times New Roman"/>
              </a:rPr>
              <a:t>Группа Инф.о-32</a:t>
            </a:r>
            <a:endParaRPr sz="18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ru-RU"/>
              <a:t>Аннотация проекта</a:t>
            </a:r>
            <a:br>
              <a:rPr lang="ru-RU"/>
            </a:br>
            <a:endParaRPr/>
          </a:p>
        </p:txBody>
      </p:sp>
      <p:sp>
        <p:nvSpPr>
          <p:cNvPr id="155" name="Google Shape;155;p5"/>
          <p:cNvSpPr txBox="1">
            <a:spLocks noGrp="1"/>
          </p:cNvSpPr>
          <p:nvPr>
            <p:ph type="body" idx="1"/>
          </p:nvPr>
        </p:nvSpPr>
        <p:spPr>
          <a:xfrm>
            <a:off x="640079" y="2468881"/>
            <a:ext cx="10890928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ru-RU"/>
              <a:t>Данный проект посвящён созданию пошаговой инструкции по регистрации учётной записи Google и электронной почты Gmail. Проект ориентирован на школьников, которые только начинают осваивать работу с интернет-сервисами и электронными средствами коммуникации.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ru-RU"/>
              <a:t>Основной целью проекта является формирование у обучающихся практических навыков создания и использования учётной записи Google. В рамках проекта рассматривается процесс регистрации аккаунта Gmail, а также основные требования к безопасности и корректному использованию личных данных.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7000"/>
              <a:buChar char="•"/>
            </a:pPr>
            <a:r>
              <a:rPr lang="ru-RU"/>
              <a:t>Проект направлен на повышение цифровой грамотности школьников и может быть использован на уроках информатики, во внеурочной деятельности или для самостоятельного обучения.</a:t>
            </a:r>
            <a:endParaRPr/>
          </a:p>
          <a:p>
            <a:pPr marL="228600" lvl="0" indent="-126396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870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7E2DEE-24D3-ABCF-E25A-6E814DD2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49727"/>
            <a:ext cx="10890929" cy="821313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sz="3200"/>
              <a:t>СРО №3 Подбор содержания учебного материала в соответствовании задачам проекта: выбор инструментов необходимых для реализации проекта.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86470-DEF0-B982-76E2-B4AA11991920}"/>
              </a:ext>
            </a:extLst>
          </p:cNvPr>
          <p:cNvSpPr txBox="1"/>
          <p:nvPr/>
        </p:nvSpPr>
        <p:spPr>
          <a:xfrm>
            <a:off x="5760720" y="4922520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aseline="0">
                <a:latin typeface="Times New Roman"/>
              </a:rPr>
              <a:t>НАО «Евразийский Национальный университет имени </a:t>
            </a:r>
            <a:r>
              <a:rPr lang="en-US" sz="1800" baseline="0">
                <a:latin typeface="Times New Roman"/>
              </a:rPr>
              <a:t>​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Л.Н. Гумилева Институт цифровых наук и искусственного интелекта</a:t>
            </a:r>
            <a:r>
              <a:rPr lang="en-US" sz="1800" baseline="0">
                <a:latin typeface="Times New Roman"/>
              </a:rPr>
              <a:t>​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Кафедра «Информатика» </a:t>
            </a:r>
            <a:r>
              <a:rPr lang="en-US" sz="1800" baseline="0">
                <a:latin typeface="Times New Roman"/>
              </a:rPr>
              <a:t>​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Группа Инф.о-32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F2F33A-5AC1-73FE-B103-2833123FD767}"/>
              </a:ext>
            </a:extLst>
          </p:cNvPr>
          <p:cNvSpPr txBox="1"/>
          <p:nvPr/>
        </p:nvSpPr>
        <p:spPr>
          <a:xfrm>
            <a:off x="172720" y="5826760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Проверила: </a:t>
            </a:r>
            <a:r>
              <a:rPr lang="ru-RU" sz="1600" b="0" i="0" u="none" strike="noStrike" baseline="0">
                <a:solidFill>
                  <a:srgbClr val="000000"/>
                </a:solidFill>
                <a:latin typeface="Public Sans"/>
              </a:rPr>
              <a:t>Давлетова А.Х.</a:t>
            </a:r>
            <a: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  <a:t>​</a:t>
            </a:r>
            <a:b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</a:br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Выполнил: Волков В.В.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9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BEB96D-B97D-B25D-2280-66DFDAD03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Подбор содержания учебного материала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481B79-717C-AC88-AF90-3F1892BC9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Содержание учебного материала подбиралось в соответствии с целями и задачами проекта, а также с учётом возрастных особенностей обучающихся начальной школы (7–10 лет). Материал имеет практическую направленность и ориентирован на формирование базовых навыков цифровой грамотности.</a:t>
            </a:r>
          </a:p>
        </p:txBody>
      </p:sp>
    </p:spTree>
    <p:extLst>
      <p:ext uri="{BB962C8B-B14F-4D97-AF65-F5344CB8AC3E}">
        <p14:creationId xmlns:p14="http://schemas.microsoft.com/office/powerpoint/2010/main" val="1624248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E8111-B1D6-F16D-AE23-6EEAF3BD8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1.1. Вводный блок: общее представление о сервисах </a:t>
            </a:r>
            <a:r>
              <a:rPr lang="ru-RU" dirty="0" err="1"/>
              <a:t>Google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0BF94B-85AA-0402-4F38-53B5F7446B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:что такое интернет;
что такое </a:t>
            </a:r>
            <a:r>
              <a:rPr lang="ru-RU" dirty="0" err="1"/>
              <a:t>Google</a:t>
            </a:r>
            <a:r>
              <a:rPr lang="ru-RU" dirty="0"/>
              <a:t> как многофункциональный сервис;
что такое учётная запись (аккаунт);
для чего нужна электронная почта </a:t>
            </a:r>
            <a:r>
              <a:rPr lang="ru-RU" dirty="0" err="1"/>
              <a:t>Gmail</a:t>
            </a:r>
            <a:r>
              <a:rPr lang="ru-RU" dirty="0"/>
              <a:t>.
Материал подаётся в упрощённой форме, без использования сложных терминов, с опорой на жизненные примеры (общение, обучение, регистрация в сервисах).</a:t>
            </a:r>
          </a:p>
        </p:txBody>
      </p:sp>
    </p:spTree>
    <p:extLst>
      <p:ext uri="{BB962C8B-B14F-4D97-AF65-F5344CB8AC3E}">
        <p14:creationId xmlns:p14="http://schemas.microsoft.com/office/powerpoint/2010/main" val="159769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21E61E-C643-FD11-5DA9-5F2302EC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1.2. Блок «Безопасность в интернете»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CD7198-71BB-1171-0F31-4309BB146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понятие пароля и его значение;
правила создания надёжного пароля;
запрет на передачу пароля посторонним лицам;
необходимость обращения к взрослым при возникновении трудностей;
аккуратное обращение с личными данными.
Данный блок является обязательным, так как работа связана с созданием личной учётной записи.</a:t>
            </a:r>
          </a:p>
        </p:txBody>
      </p:sp>
    </p:spTree>
    <p:extLst>
      <p:ext uri="{BB962C8B-B14F-4D97-AF65-F5344CB8AC3E}">
        <p14:creationId xmlns:p14="http://schemas.microsoft.com/office/powerpoint/2010/main" val="86652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17C29C-F2AB-3D63-DB34-C3E03577D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1.3. Основной практический блок: создание аккаунта </a:t>
            </a:r>
            <a:r>
              <a:rPr lang="ru-RU" dirty="0" err="1"/>
              <a:t>Google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8C8181-8493-94AF-9680-BE31B76C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66" y="2660932"/>
            <a:ext cx="10890928" cy="356616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Открытие браузера.
Переход на сайт </a:t>
            </a:r>
            <a:r>
              <a:rPr lang="ru-RU" dirty="0" err="1"/>
              <a:t>Google</a:t>
            </a:r>
            <a:r>
              <a:rPr lang="ru-RU" dirty="0"/>
              <a:t>.
Выбор функции «Создать аккаунт».
Ввод имени и фамилии.
Создание адреса электронной почты.
Придумывание и ввод пароля.
Указание даты рождения.
Подтверждение номера телефона (с участием взрослого).
Принятие пользовательского соглашения.</a:t>
            </a:r>
          </a:p>
        </p:txBody>
      </p:sp>
    </p:spTree>
    <p:extLst>
      <p:ext uri="{BB962C8B-B14F-4D97-AF65-F5344CB8AC3E}">
        <p14:creationId xmlns:p14="http://schemas.microsoft.com/office/powerpoint/2010/main" val="2278313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6F7DB-A31F-29F4-776A-D5F5E1855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1.4. Заключительный блок: знакомство с </a:t>
            </a:r>
            <a:r>
              <a:rPr lang="ru-RU" dirty="0" err="1"/>
              <a:t>Gmail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A7B2A2-E680-FD27-2003-BD6C0F5E2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вход в почтовый ящик;
интерфейс </a:t>
            </a:r>
            <a:r>
              <a:rPr lang="ru-RU" dirty="0" err="1"/>
              <a:t>Gmail</a:t>
            </a:r>
            <a:r>
              <a:rPr lang="ru-RU" dirty="0"/>
              <a:t> (входящие письма, кнопка «Написать письмо»);
выход из аккаунта.
Цель блока — закрепить результат и показать практическую ценность созданной учётной записи.</a:t>
            </a:r>
          </a:p>
        </p:txBody>
      </p:sp>
    </p:spTree>
    <p:extLst>
      <p:ext uri="{BB962C8B-B14F-4D97-AF65-F5344CB8AC3E}">
        <p14:creationId xmlns:p14="http://schemas.microsoft.com/office/powerpoint/2010/main" val="2177590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9469E5-BFBA-B590-42AD-76F0E966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2. Инструменты, необходимые для реализации проекта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BD48B5-D3FE-47DB-184E-F724CD603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2.1. Технические средства
компьютер или ноутбук;
стабильное подключение к интернету;
веб-браузер (</a:t>
            </a:r>
            <a:r>
              <a:rPr lang="ru-RU" dirty="0" err="1"/>
              <a:t>Google</a:t>
            </a:r>
            <a:r>
              <a:rPr lang="ru-RU" dirty="0"/>
              <a:t> </a:t>
            </a:r>
            <a:r>
              <a:rPr lang="ru-RU" dirty="0" err="1"/>
              <a:t>Chrome</a:t>
            </a:r>
            <a:r>
              <a:rPr lang="ru-RU" dirty="0"/>
              <a:t>, </a:t>
            </a:r>
            <a:r>
              <a:rPr lang="ru-RU" dirty="0" err="1"/>
              <a:t>Microsoft</a:t>
            </a:r>
            <a:r>
              <a:rPr lang="ru-RU" dirty="0"/>
              <a:t> </a:t>
            </a:r>
            <a:r>
              <a:rPr lang="ru-RU" dirty="0" err="1"/>
              <a:t>Edge</a:t>
            </a:r>
            <a:r>
              <a:rPr lang="ru-RU" dirty="0"/>
              <a:t> и др.).
2.2. Программные средства для записи видео
OBS </a:t>
            </a:r>
            <a:r>
              <a:rPr lang="ru-RU" dirty="0" err="1"/>
              <a:t>Studio</a:t>
            </a:r>
            <a:r>
              <a:rPr lang="ru-RU" dirty="0"/>
              <a:t> / </a:t>
            </a:r>
            <a:r>
              <a:rPr lang="ru-RU" dirty="0" err="1"/>
              <a:t>Bandicam</a:t>
            </a:r>
            <a:r>
              <a:rPr lang="ru-RU" dirty="0"/>
              <a:t> / </a:t>
            </a:r>
            <a:r>
              <a:rPr lang="ru-RU" dirty="0" err="1"/>
              <a:t>Screen</a:t>
            </a:r>
            <a:r>
              <a:rPr lang="ru-RU" dirty="0"/>
              <a:t> </a:t>
            </a:r>
            <a:r>
              <a:rPr lang="ru-RU" dirty="0" err="1"/>
              <a:t>Recorder</a:t>
            </a:r>
            <a:r>
              <a:rPr lang="ru-RU" dirty="0"/>
              <a:t> — для захвата экрана;
микрофон — для записи голосовых комментариев.</a:t>
            </a:r>
          </a:p>
        </p:txBody>
      </p:sp>
    </p:spTree>
    <p:extLst>
      <p:ext uri="{BB962C8B-B14F-4D97-AF65-F5344CB8AC3E}">
        <p14:creationId xmlns:p14="http://schemas.microsoft.com/office/powerpoint/2010/main" val="4149427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24FF0-B378-A7EF-6321-93A8EBBB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Инструменты, необходимые для реализации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80216E-6F21-9AC5-6BEB-F0C07BE2B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2.3. Программные средства для монтажа
</a:t>
            </a:r>
            <a:r>
              <a:rPr lang="ru-RU" dirty="0" err="1"/>
              <a:t>CapCut</a:t>
            </a:r>
            <a:r>
              <a:rPr lang="ru-RU" dirty="0"/>
              <a:t>
</a:t>
            </a:r>
            <a:r>
              <a:rPr lang="ru-RU" dirty="0" err="1"/>
              <a:t>Movavi</a:t>
            </a:r>
            <a:r>
              <a:rPr lang="ru-RU" dirty="0"/>
              <a:t> </a:t>
            </a:r>
            <a:r>
              <a:rPr lang="ru-RU" dirty="0" err="1"/>
              <a:t>Video</a:t>
            </a:r>
            <a:r>
              <a:rPr lang="ru-RU" dirty="0"/>
              <a:t> </a:t>
            </a:r>
            <a:r>
              <a:rPr lang="ru-RU" dirty="0" err="1"/>
              <a:t>Editor</a:t>
            </a:r>
            <a:r>
              <a:rPr lang="ru-RU" dirty="0"/>
              <a:t>
</a:t>
            </a:r>
            <a:r>
              <a:rPr lang="ru-RU" dirty="0" err="1"/>
              <a:t>Filmora</a:t>
            </a:r>
            <a:r>
              <a:rPr lang="ru-RU" dirty="0"/>
              <a:t>
встроенные </a:t>
            </a:r>
            <a:r>
              <a:rPr lang="ru-RU" dirty="0" err="1"/>
              <a:t>видеоредакторы</a:t>
            </a:r>
            <a:r>
              <a:rPr lang="ru-RU" dirty="0"/>
              <a:t> операционной системы.
2.4. Средства повышения наглядности
увеличение размера курсора;
подсветка кликов мыши;
добавление стрелок, рамок и подписей при монтаже;
использование крупного шрифта.</a:t>
            </a:r>
          </a:p>
        </p:txBody>
      </p:sp>
    </p:spTree>
    <p:extLst>
      <p:ext uri="{BB962C8B-B14F-4D97-AF65-F5344CB8AC3E}">
        <p14:creationId xmlns:p14="http://schemas.microsoft.com/office/powerpoint/2010/main" val="864009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1AA9B-54CE-2836-CD58-391D209B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СРО№4 Подбор ресурса, соответствующего облачному сервису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81DEC-32DA-A857-BB2E-5E1778BD9D1E}"/>
              </a:ext>
            </a:extLst>
          </p:cNvPr>
          <p:cNvSpPr txBox="1"/>
          <p:nvPr/>
        </p:nvSpPr>
        <p:spPr>
          <a:xfrm>
            <a:off x="5943600" y="4922520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НАО «Евразийский Национальный университет имени 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​​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Л.Н. Гумилева Институт цифровых наук и искусственного интелекта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​​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Кафедра «Информатика» 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​​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Группа Инф.о-32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534FA-41EC-60B1-4C8B-997E6A5CF2B0}"/>
              </a:ext>
            </a:extLst>
          </p:cNvPr>
          <p:cNvSpPr txBox="1"/>
          <p:nvPr/>
        </p:nvSpPr>
        <p:spPr>
          <a:xfrm>
            <a:off x="355600" y="5826760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Проверила: </a:t>
            </a:r>
            <a:r>
              <a:rPr lang="ru-RU" sz="1600" b="0" i="0" u="none" strike="noStrike" baseline="0">
                <a:solidFill>
                  <a:srgbClr val="000000"/>
                </a:solidFill>
                <a:latin typeface="Public Sans"/>
              </a:rPr>
              <a:t>Давлетова А.Х.</a:t>
            </a:r>
            <a: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  <a:t>​</a:t>
            </a:r>
            <a:b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</a:br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Выполнил: Волков В.В.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14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5E764-CB2C-CC65-A2A3-9D865584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GMAIL 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2D4740-0E19-E806-BD56-A32362F99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-327660"/>
            <a:endParaRPr lang="ru-RU" dirty="0"/>
          </a:p>
          <a:p>
            <a:pPr marL="129540" indent="0">
              <a:buNone/>
            </a:pPr>
            <a:r>
              <a:rPr lang="ru-RU"/>
              <a:t>В качестве программного средства для создания учётной записи используется почтовый сервис Gmail компании Google.</a:t>
            </a:r>
          </a:p>
          <a:p>
            <a:pPr marL="129540" indent="0">
              <a:buNone/>
            </a:pPr>
            <a:r>
              <a:rPr lang="ru-RU"/>
              <a:t>Gmail</a:t>
            </a:r>
            <a:r>
              <a:rPr lang="ru-RU" dirty="0"/>
              <a:t> является облачным сервисом, предоставляющим возможность регистрации и последующего использования единой учётной записи </a:t>
            </a:r>
            <a:r>
              <a:rPr lang="ru-RU" err="1"/>
              <a:t>Google</a:t>
            </a:r>
            <a:r>
              <a:rPr lang="ru-RU" dirty="0"/>
              <a:t>. После прохождения процедуры регистрации пользователь получает персональный аккаунт, который обеспечивает доступ к сервисам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187642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D8775F8-9F4B-7105-91A1-AC1B2CD16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539" y="1013364"/>
            <a:ext cx="10890928" cy="3566160"/>
          </a:xfrm>
        </p:spPr>
        <p:txBody>
          <a:bodyPr/>
          <a:lstStyle/>
          <a:p>
            <a:pPr marL="129540" indent="0">
              <a:buNone/>
            </a:pPr>
            <a:r>
              <a:rPr lang="ru-RU" dirty="0"/>
              <a:t>Сервис функционирует через веб-браузер и не требует установки дополнительного программного обеспечения. Все данные пользователя хранятся в облачной инфраструктуре компании </a:t>
            </a:r>
            <a:r>
              <a:rPr lang="ru-RU" err="1"/>
              <a:t>Google</a:t>
            </a:r>
            <a:r>
              <a:rPr lang="ru-RU" dirty="0"/>
              <a:t>, что обеспечивает доступ к аккаунту с любого устройства при наличии подключения к сети Интернет.
</a:t>
            </a:r>
            <a:r>
              <a:rPr lang="ru-RU" err="1"/>
              <a:t>Gmail</a:t>
            </a:r>
            <a:r>
              <a:rPr lang="ru-RU" dirty="0"/>
              <a:t> также предоставляет инструменты защиты данных, включая подтверждение номера телефона и двухэтапную аутентификацию.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0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C7CC8-4B53-736E-B374-5866A53E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2589426"/>
          </a:xfrm>
        </p:spPr>
        <p:txBody>
          <a:bodyPr>
            <a:normAutofit/>
          </a:bodyPr>
          <a:lstStyle/>
          <a:p>
            <a:r>
              <a:rPr lang="ru-RU"/>
              <a:t>СРО №5“Разработка структуры проекта”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D4017-73C5-FABF-0D51-AEA44EA18332}"/>
              </a:ext>
            </a:extLst>
          </p:cNvPr>
          <p:cNvSpPr txBox="1"/>
          <p:nvPr/>
        </p:nvSpPr>
        <p:spPr>
          <a:xfrm>
            <a:off x="5750560" y="4790440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aseline="0">
                <a:latin typeface="Times New Roman"/>
              </a:rPr>
              <a:t>НАО «Евразийский Национальный университет имени 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Л.Н. Гумилева Институт цифровых наук и искусственного интелекта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Кафедра «Информатика» 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Группа Инф.о-32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53586-8AC5-3028-A825-066D2E820101}"/>
              </a:ext>
            </a:extLst>
          </p:cNvPr>
          <p:cNvSpPr txBox="1"/>
          <p:nvPr/>
        </p:nvSpPr>
        <p:spPr>
          <a:xfrm>
            <a:off x="406400" y="5786120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Проверила: </a:t>
            </a:r>
            <a:r>
              <a:rPr lang="ru-RU" sz="1600" b="0" i="0" u="none" strike="noStrike" baseline="0">
                <a:solidFill>
                  <a:srgbClr val="000000"/>
                </a:solidFill>
                <a:latin typeface="Public Sans"/>
              </a:rPr>
              <a:t>Давлетова А.Х.</a:t>
            </a:r>
            <a: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  <a:t>​</a:t>
            </a:r>
            <a:b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</a:br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Выполнил: Волков В.В.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56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84AE0-A84F-70F4-8460-5C4D61C67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проекта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FDFC240-1346-B029-B314-3D4B4D081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804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2804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2804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2804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2804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66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pPr marL="0" indent="0" defTabSz="914400">
              <a:buFont typeface="Arial"/>
              <a:buNone/>
            </a:pPr>
            <a:r>
              <a:rPr lang="ru-RU" sz="25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b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актуальности темы, формулировка цели и задач проекта, определение объекта и предмета исследования, описание методов работы.</a:t>
            </a:r>
          </a:p>
          <a:p>
            <a:pPr marL="0" indent="0" defTabSz="914400">
              <a:buFont typeface="Arial"/>
              <a:buNone/>
            </a:pPr>
            <a:r>
              <a:rPr lang="ru-RU" sz="25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исследования</a:t>
            </a:r>
            <a:b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научных источников по теме, рассмотрение ключевых понятий и подходов, обзор существующих решений и технологий.</a:t>
            </a:r>
          </a:p>
          <a:p>
            <a:pPr marL="0" indent="0" defTabSz="914400">
              <a:buFont typeface="Arial"/>
              <a:buNone/>
            </a:pPr>
            <a:r>
              <a:rPr lang="ru-RU" sz="25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Проектная (практическая) часть</a:t>
            </a:r>
            <a:b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этапов разработки проекта, используемых инструментов и технологий, характеристика создаваемого продукта или модели.</a:t>
            </a:r>
          </a:p>
          <a:p>
            <a:pPr marL="0" indent="0" defTabSz="914400">
              <a:buFont typeface="Arial"/>
              <a:buNone/>
            </a:pPr>
            <a:r>
              <a:rPr lang="ru-RU" sz="25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оценка результатов</a:t>
            </a:r>
            <a:b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 полученных результатов, их анализ, оценка эффективности разработанного решения, выявление преимуществ и возможных ограничений.</a:t>
            </a:r>
          </a:p>
          <a:p>
            <a:pPr marL="0" indent="0" defTabSz="914400">
              <a:buFont typeface="Arial"/>
              <a:buNone/>
            </a:pPr>
            <a:r>
              <a:rPr lang="ru-RU" sz="25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и перспективы развития</a:t>
            </a:r>
            <a:b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проделанной работы, выводы по поставленным задачам, рекомендации и направления дальнейшего совершенствования проекта.</a:t>
            </a:r>
          </a:p>
          <a:p>
            <a:pPr defTabSz="914400"/>
            <a:endParaRPr lang="ru-KZ" kern="0" dirty="0"/>
          </a:p>
          <a:p>
            <a:pPr marL="0" indent="0" defTabSz="914400">
              <a:buFont typeface="Arial"/>
              <a:buNone/>
            </a:pPr>
            <a:endParaRPr lang="ru-KZ" kern="0" dirty="0"/>
          </a:p>
        </p:txBody>
      </p:sp>
    </p:spTree>
    <p:extLst>
      <p:ext uri="{BB962C8B-B14F-4D97-AF65-F5344CB8AC3E}">
        <p14:creationId xmlns:p14="http://schemas.microsoft.com/office/powerpoint/2010/main" val="1181157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742079-0CE9-53A6-4EFE-9CDF7780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Проектная(практическая) часть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A15482-3C8F-73DB-8FB0-3446A77DB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306320"/>
            <a:ext cx="10890928" cy="3893312"/>
          </a:xfrm>
        </p:spPr>
        <p:txBody>
          <a:bodyPr>
            <a:normAutofit fontScale="62500" lnSpcReduction="20000"/>
          </a:bodyPr>
          <a:lstStyle/>
          <a:p>
            <a:pPr marL="129540" indent="0">
              <a:buNone/>
            </a:pPr>
            <a:r>
              <a:rPr lang="ru-RU"/>
              <a:t>Практическая значимость моего проекта заключается в том, что в процессе его выполнения я освоил создание и настройку личной учётной записи в сервисе </a:t>
            </a:r>
            <a:r>
              <a:rPr lang="af-ZA" b="1"/>
              <a:t>Gmail</a:t>
            </a:r>
            <a:r>
              <a:rPr lang="af-ZA"/>
              <a:t>, </a:t>
            </a:r>
            <a:r>
              <a:rPr lang="ru-RU"/>
              <a:t>а также получил практические навыки работы с цифровыми сервисами компании </a:t>
            </a:r>
            <a:r>
              <a:rPr lang="af-ZA" b="1"/>
              <a:t>Google</a:t>
            </a:r>
            <a:r>
              <a:rPr lang="af-ZA"/>
              <a:t>.</a:t>
            </a:r>
            <a:endParaRPr lang="en-US"/>
          </a:p>
          <a:p>
            <a:pPr marL="129540" indent="0">
              <a:buNone/>
            </a:pPr>
            <a:r>
              <a:rPr lang="ru-RU"/>
              <a:t>Работа над проектом позволила мне на практике изучить процесс регистрации аккаунта, настройки параметров безопасности (включая двухэтапную аутентификацию), а также организацию работы с электронной почтой. Я научился правильно заполнять регистрационные формы, создавать надёжные пароли и обеспечивать защиту персональных данных в сети Интернет.</a:t>
            </a:r>
          </a:p>
          <a:p>
            <a:pPr marL="129540" indent="0">
              <a:buNone/>
            </a:pPr>
            <a:r>
              <a:rPr lang="ru-RU"/>
              <a:t>Это особенно важно для меня как студента направления «Сети и безопасность», поскольку создание и защита учётных записей является базовым элементом информационной безопасности. Я понимаю, что современный специалист в сфере информационных технологий должен уметь не только пользоваться цифровыми сервисами, но и грамотно настраивать их с точки зрения защиты данных и безопасного доступа.</a:t>
            </a:r>
          </a:p>
          <a:p>
            <a:pPr marL="129540" indent="0">
              <a:buNone/>
            </a:pPr>
            <a:r>
              <a:rPr lang="ru-RU"/>
              <a:t>Кроме того, данный проект имеет практическую ценность в повседневной жизни, так как аккаунт </a:t>
            </a:r>
            <a:r>
              <a:rPr lang="af-ZA"/>
              <a:t>Google </a:t>
            </a:r>
            <a:r>
              <a:rPr lang="ru-RU"/>
              <a:t>предоставляет доступ к множеству сервисов (электронная почта, облачное хранилище, онлайн-документы и другие инструменты), которые активно используются в учебной и профессиональной деятельности.</a:t>
            </a:r>
          </a:p>
          <a:p>
            <a:pPr marL="129540" indent="0">
              <a:buNone/>
            </a:pPr>
            <a:r>
              <a:rPr lang="ru-RU"/>
              <a:t>Таким образом, выполнение проекта позволило мне получить важный практический опыт работы с современными интернет-технологиями и укрепить знания в области цифровой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1906478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811DDE-1DBC-C589-F8A8-4615ABF6D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/>
              <a:t> СРО 6-7 Разработка отдельных компонентов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E17111-649D-13BB-718D-80505F62D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9540" indent="0">
              <a:buNone/>
            </a:pPr>
            <a:r>
              <a:rPr lang="ru-RU"/>
              <a:t>Разработка отдельных компонентов проектной работы, необходимых для установки на разрабатываемом ресурсе. Из отдельных компонентов мне понадобилось только приложение Gmail. Его я использовал для создания учётной записи Google для её настройки. Сторонние софты, другие сервисы не пригодились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B1104-139A-027F-FA4E-F278FF44682F}"/>
              </a:ext>
            </a:extLst>
          </p:cNvPr>
          <p:cNvSpPr txBox="1"/>
          <p:nvPr/>
        </p:nvSpPr>
        <p:spPr>
          <a:xfrm>
            <a:off x="6085840" y="4942840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НАО «Евразийский Национальный университет имени 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Л.Н. Гумилева Институт цифровых наук и искусственного интелекта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Кафедра «Информатика» 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Группа Инф.о-32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B359-113F-C623-6232-7CF1F4700DD7}"/>
              </a:ext>
            </a:extLst>
          </p:cNvPr>
          <p:cNvSpPr txBox="1"/>
          <p:nvPr/>
        </p:nvSpPr>
        <p:spPr>
          <a:xfrm>
            <a:off x="640080" y="5521960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Проверила: </a:t>
            </a:r>
            <a:r>
              <a:rPr lang="ru-RU" sz="1600" b="0" i="0" u="none" strike="noStrike" baseline="0">
                <a:solidFill>
                  <a:srgbClr val="000000"/>
                </a:solidFill>
                <a:latin typeface="Public Sans"/>
              </a:rPr>
              <a:t>Давлетова А.Х.</a:t>
            </a:r>
            <a: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  <a:t>​</a:t>
            </a:r>
            <a:b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</a:br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Выполнил: Волков В.В.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52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08D8-1438-0630-5734-EDF8A9DD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СРО 8-9 </a:t>
            </a:r>
            <a:r>
              <a:rPr lang="en-US" sz="3600" dirty="0" err="1"/>
              <a:t>Практическая</a:t>
            </a:r>
            <a:r>
              <a:rPr lang="en-US" sz="3600" dirty="0"/>
              <a:t>  </a:t>
            </a:r>
            <a:r>
              <a:rPr lang="en-US" sz="3600" dirty="0" err="1"/>
              <a:t>разработка</a:t>
            </a:r>
            <a:r>
              <a:rPr lang="en-US" sz="3600" dirty="0"/>
              <a:t> </a:t>
            </a:r>
            <a:r>
              <a:rPr lang="en-US" sz="3600" dirty="0" err="1"/>
              <a:t>по</a:t>
            </a:r>
            <a:r>
              <a:rPr lang="en-US" sz="3600" dirty="0"/>
              <a:t> </a:t>
            </a:r>
            <a:r>
              <a:rPr lang="en-US" sz="3600" dirty="0" err="1"/>
              <a:t>выбранной</a:t>
            </a:r>
            <a:r>
              <a:rPr lang="en-US" sz="3600" dirty="0"/>
              <a:t> </a:t>
            </a:r>
            <a:r>
              <a:rPr lang="en-US" sz="3600" dirty="0" err="1"/>
              <a:t>теме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8B8AF-01D3-CE0B-91EB-98EF3570292E}"/>
              </a:ext>
            </a:extLst>
          </p:cNvPr>
          <p:cNvSpPr txBox="1"/>
          <p:nvPr/>
        </p:nvSpPr>
        <p:spPr>
          <a:xfrm>
            <a:off x="6085840" y="5044440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aseline="0">
                <a:latin typeface="Times New Roman"/>
              </a:rPr>
              <a:t>НАО «Евразийский Национальный университет имени 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Л.Н. Гумилева Институт цифровых наук и искусственного интелекта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Кафедра «Информатика» 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Группа Инф.о-32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65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0AB0-0276-1ED1-92D5-D8A233C6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68401"/>
            <a:ext cx="9102769" cy="109728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«В </a:t>
            </a:r>
            <a:r>
              <a:rPr lang="en-US" sz="2800" dirty="0" err="1"/>
              <a:t>ходе</a:t>
            </a:r>
            <a:r>
              <a:rPr lang="en-US" sz="2800" dirty="0"/>
              <a:t> </a:t>
            </a:r>
            <a:r>
              <a:rPr lang="en-US" sz="2800" dirty="0" err="1"/>
              <a:t>практической</a:t>
            </a:r>
            <a:r>
              <a:rPr lang="en-US" sz="2800" dirty="0"/>
              <a:t> </a:t>
            </a:r>
            <a:r>
              <a:rPr lang="en-US" sz="2800" dirty="0" err="1"/>
              <a:t>разработки</a:t>
            </a:r>
            <a:r>
              <a:rPr lang="en-US" sz="2800" dirty="0"/>
              <a:t> </a:t>
            </a:r>
            <a:r>
              <a:rPr lang="en-US" sz="2800" dirty="0" err="1"/>
              <a:t>были</a:t>
            </a:r>
            <a:r>
              <a:rPr lang="en-US" sz="2800" dirty="0"/>
              <a:t> </a:t>
            </a:r>
            <a:r>
              <a:rPr lang="en-US" sz="2800" dirty="0" err="1"/>
              <a:t>выполнены</a:t>
            </a:r>
            <a:r>
              <a:rPr lang="en-US" sz="2800" dirty="0"/>
              <a:t> </a:t>
            </a:r>
            <a:br>
              <a:rPr lang="en-US" sz="2800" dirty="0"/>
            </a:br>
            <a:r>
              <a:rPr lang="en-US" sz="2800" dirty="0" err="1"/>
              <a:t>следующие</a:t>
            </a:r>
            <a:r>
              <a:rPr lang="en-US" sz="2800" dirty="0"/>
              <a:t> </a:t>
            </a:r>
            <a:r>
              <a:rPr lang="en-US" sz="2800" dirty="0" err="1"/>
              <a:t>шаги</a:t>
            </a:r>
            <a:r>
              <a:rPr lang="en-US" sz="2800" dirty="0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CE969-5BD9-E70E-BCB7-F2ED97FF6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indent="-327660"/>
            <a:endParaRPr lang="en-US" dirty="0"/>
          </a:p>
          <a:p>
            <a:pPr marL="129540" indent="0">
              <a:buNone/>
            </a:pPr>
            <a:r>
              <a:rPr lang="en-US" dirty="0" err="1"/>
              <a:t>Выбор</a:t>
            </a:r>
            <a:r>
              <a:rPr lang="en-US" dirty="0"/>
              <a:t> </a:t>
            </a:r>
            <a:r>
              <a:rPr lang="en-US" dirty="0" err="1"/>
              <a:t>инструментов</a:t>
            </a:r>
            <a:r>
              <a:rPr lang="en-US" dirty="0"/>
              <a:t> </a:t>
            </a:r>
            <a:r>
              <a:rPr lang="en-US" dirty="0" err="1"/>
              <a:t>для</a:t>
            </a:r>
            <a:r>
              <a:rPr lang="en-US" dirty="0"/>
              <a:t> </a:t>
            </a:r>
            <a:r>
              <a:rPr lang="en-US" dirty="0" err="1"/>
              <a:t>захвата</a:t>
            </a:r>
            <a:r>
              <a:rPr lang="en-US" dirty="0"/>
              <a:t> </a:t>
            </a:r>
            <a:r>
              <a:rPr lang="en-US" dirty="0" err="1"/>
              <a:t>экрана</a:t>
            </a:r>
            <a:r>
              <a:rPr lang="en-US" dirty="0"/>
              <a:t>, </a:t>
            </a:r>
            <a:r>
              <a:rPr lang="en-US" dirty="0" err="1"/>
              <a:t>СapCut</a:t>
            </a:r>
            <a:r>
              <a:rPr lang="en-US" dirty="0"/>
              <a:t> </a:t>
            </a:r>
            <a:r>
              <a:rPr lang="en-US" dirty="0" err="1"/>
              <a:t>для</a:t>
            </a:r>
            <a:r>
              <a:rPr lang="en-US" dirty="0"/>
              <a:t> </a:t>
            </a:r>
            <a:r>
              <a:rPr lang="en-US" dirty="0" err="1"/>
              <a:t>финального</a:t>
            </a:r>
            <a:r>
              <a:rPr lang="en-US" dirty="0"/>
              <a:t> </a:t>
            </a:r>
            <a:r>
              <a:rPr lang="en-US" dirty="0" err="1"/>
              <a:t>монтажа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Съемка</a:t>
            </a:r>
            <a:r>
              <a:rPr lang="en-US" dirty="0"/>
              <a:t>: </a:t>
            </a:r>
            <a:r>
              <a:rPr lang="en-US" dirty="0" err="1"/>
              <a:t>Запись</a:t>
            </a:r>
            <a:r>
              <a:rPr lang="en-US" dirty="0"/>
              <a:t> </a:t>
            </a:r>
            <a:r>
              <a:rPr lang="en-US" dirty="0" err="1"/>
              <a:t>экранных</a:t>
            </a:r>
            <a:r>
              <a:rPr lang="en-US" dirty="0"/>
              <a:t> </a:t>
            </a:r>
            <a:r>
              <a:rPr lang="en-US" dirty="0" err="1"/>
              <a:t>форм</a:t>
            </a:r>
            <a:r>
              <a:rPr lang="en-US" dirty="0"/>
              <a:t> Google в </a:t>
            </a:r>
            <a:r>
              <a:rPr lang="en-US" dirty="0" err="1"/>
              <a:t>режиме</a:t>
            </a:r>
            <a:r>
              <a:rPr lang="en-US" dirty="0"/>
              <a:t> </a:t>
            </a:r>
            <a:r>
              <a:rPr lang="en-US" dirty="0" err="1"/>
              <a:t>реального</a:t>
            </a:r>
            <a:r>
              <a:rPr lang="en-US" dirty="0"/>
              <a:t> </a:t>
            </a:r>
            <a:r>
              <a:rPr lang="en-US" dirty="0" err="1"/>
              <a:t>времени</a:t>
            </a:r>
            <a:r>
              <a:rPr lang="en-US" dirty="0"/>
              <a:t> с </a:t>
            </a:r>
            <a:r>
              <a:rPr lang="en-US" dirty="0" err="1"/>
              <a:t>демонстрацией</a:t>
            </a:r>
            <a:endParaRPr lang="en-US"/>
          </a:p>
          <a:p>
            <a:pPr marL="129540" indent="0">
              <a:buNone/>
            </a:pPr>
            <a:r>
              <a:rPr lang="en-US" dirty="0" err="1"/>
              <a:t>заполнения</a:t>
            </a:r>
            <a:r>
              <a:rPr lang="en-US" dirty="0"/>
              <a:t> </a:t>
            </a:r>
            <a:r>
              <a:rPr lang="en-US" dirty="0" err="1"/>
              <a:t>регистрационных</a:t>
            </a:r>
            <a:r>
              <a:rPr lang="en-US" dirty="0"/>
              <a:t> 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Монтаж</a:t>
            </a:r>
            <a:r>
              <a:rPr lang="en-US" dirty="0"/>
              <a:t>: </a:t>
            </a:r>
            <a:r>
              <a:rPr lang="en-US" dirty="0" err="1"/>
              <a:t>Удаление</a:t>
            </a:r>
            <a:r>
              <a:rPr lang="en-US" dirty="0"/>
              <a:t> </a:t>
            </a:r>
            <a:r>
              <a:rPr lang="en-US" dirty="0" err="1"/>
              <a:t>речевых</a:t>
            </a:r>
            <a:r>
              <a:rPr lang="en-US" dirty="0"/>
              <a:t> </a:t>
            </a:r>
            <a:r>
              <a:rPr lang="en-US" dirty="0" err="1"/>
              <a:t>ошибок</a:t>
            </a:r>
            <a:r>
              <a:rPr lang="en-US" dirty="0"/>
              <a:t>, </a:t>
            </a:r>
            <a:r>
              <a:rPr lang="en-US" dirty="0" err="1"/>
              <a:t>добавление</a:t>
            </a:r>
            <a:r>
              <a:rPr lang="en-US" dirty="0"/>
              <a:t> </a:t>
            </a:r>
            <a:r>
              <a:rPr lang="en-US" dirty="0" err="1"/>
              <a:t>графических</a:t>
            </a:r>
            <a:r>
              <a:rPr lang="en-US" dirty="0"/>
              <a:t> </a:t>
            </a:r>
            <a:r>
              <a:rPr lang="en-US" dirty="0" err="1"/>
              <a:t>аннотаций</a:t>
            </a:r>
            <a:r>
              <a:rPr lang="en-US" dirty="0"/>
              <a:t> (</a:t>
            </a:r>
            <a:r>
              <a:rPr lang="en-US" dirty="0" err="1"/>
              <a:t>стрелок</a:t>
            </a:r>
            <a:r>
              <a:rPr lang="en-US" dirty="0"/>
              <a:t>,</a:t>
            </a:r>
          </a:p>
          <a:p>
            <a:pPr marL="129540" indent="0">
              <a:buNone/>
            </a:pPr>
            <a:r>
              <a:rPr lang="en-US" dirty="0" err="1"/>
              <a:t>рамок</a:t>
            </a:r>
            <a:r>
              <a:rPr lang="en-US" dirty="0"/>
              <a:t>) </a:t>
            </a:r>
            <a:r>
              <a:rPr lang="en-US" dirty="0" err="1"/>
              <a:t>для</a:t>
            </a:r>
            <a:r>
              <a:rPr lang="en-US" dirty="0"/>
              <a:t> </a:t>
            </a:r>
            <a:r>
              <a:rPr lang="en-US" dirty="0" err="1"/>
              <a:t>акцентирования</a:t>
            </a:r>
            <a:r>
              <a:rPr lang="en-US" dirty="0"/>
              <a:t> </a:t>
            </a:r>
            <a:r>
              <a:rPr lang="en-US" dirty="0" err="1"/>
              <a:t>внимания</a:t>
            </a:r>
            <a:r>
              <a:rPr lang="en-US" dirty="0"/>
              <a:t> </a:t>
            </a:r>
            <a:r>
              <a:rPr lang="en-US" dirty="0" err="1"/>
              <a:t>на</a:t>
            </a:r>
            <a:r>
              <a:rPr lang="en-US" dirty="0"/>
              <a:t> </a:t>
            </a:r>
            <a:r>
              <a:rPr lang="en-US" dirty="0" err="1"/>
              <a:t>важных</a:t>
            </a:r>
            <a:r>
              <a:rPr lang="en-US" dirty="0"/>
              <a:t> </a:t>
            </a:r>
            <a:r>
              <a:rPr lang="en-US" dirty="0" err="1"/>
              <a:t>деталях</a:t>
            </a:r>
            <a:r>
              <a:rPr lang="en-US" dirty="0"/>
              <a:t> </a:t>
            </a:r>
            <a:r>
              <a:rPr lang="en-US" dirty="0" err="1"/>
              <a:t>конфиденциальности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Представление</a:t>
            </a:r>
            <a:r>
              <a:rPr lang="en-US" dirty="0"/>
              <a:t>: </a:t>
            </a:r>
            <a:r>
              <a:rPr lang="en-US" dirty="0" err="1"/>
              <a:t>Финальный</a:t>
            </a:r>
            <a:r>
              <a:rPr lang="en-US" dirty="0"/>
              <a:t> </a:t>
            </a:r>
            <a:r>
              <a:rPr lang="en-US" dirty="0" err="1"/>
              <a:t>ролик</a:t>
            </a:r>
            <a:r>
              <a:rPr lang="en-US" dirty="0"/>
              <a:t> </a:t>
            </a:r>
            <a:r>
              <a:rPr lang="en-US" dirty="0" err="1"/>
              <a:t>оформлен</a:t>
            </a:r>
            <a:r>
              <a:rPr lang="en-US" dirty="0"/>
              <a:t> в </a:t>
            </a:r>
            <a:r>
              <a:rPr lang="en-US" dirty="0" err="1"/>
              <a:t>виде</a:t>
            </a:r>
            <a:r>
              <a:rPr lang="en-US" dirty="0"/>
              <a:t> </a:t>
            </a:r>
            <a:r>
              <a:rPr lang="en-US" dirty="0" err="1"/>
              <a:t>компактного</a:t>
            </a:r>
            <a:r>
              <a:rPr lang="en-US" dirty="0"/>
              <a:t> </a:t>
            </a:r>
            <a:r>
              <a:rPr lang="en-US" dirty="0" err="1"/>
              <a:t>видеофайла,обеспечивающего</a:t>
            </a:r>
            <a:r>
              <a:rPr lang="en-US" dirty="0"/>
              <a:t> </a:t>
            </a:r>
            <a:r>
              <a:rPr lang="en-US" dirty="0" err="1"/>
              <a:t>высокое</a:t>
            </a:r>
            <a:r>
              <a:rPr lang="en-US" dirty="0"/>
              <a:t> </a:t>
            </a:r>
            <a:r>
              <a:rPr lang="en-US" dirty="0" err="1"/>
              <a:t>качество</a:t>
            </a:r>
            <a:r>
              <a:rPr lang="en-US" dirty="0"/>
              <a:t> </a:t>
            </a:r>
            <a:r>
              <a:rPr lang="en-US" dirty="0" err="1"/>
              <a:t>изображения</a:t>
            </a:r>
            <a:r>
              <a:rPr lang="en-US" dirty="0"/>
              <a:t> </a:t>
            </a:r>
            <a:r>
              <a:rPr lang="en-US" dirty="0" err="1"/>
              <a:t>при</a:t>
            </a:r>
            <a:r>
              <a:rPr lang="en-US" dirty="0"/>
              <a:t> </a:t>
            </a:r>
            <a:r>
              <a:rPr lang="en-US" dirty="0" err="1"/>
              <a:t>оптимальном</a:t>
            </a:r>
            <a:r>
              <a:rPr lang="en-US" dirty="0"/>
              <a:t> </a:t>
            </a:r>
            <a:r>
              <a:rPr lang="en-US" dirty="0" err="1"/>
              <a:t>размере</a:t>
            </a:r>
            <a:r>
              <a:rPr lang="en-US" dirty="0"/>
              <a:t> </a:t>
            </a:r>
            <a:r>
              <a:rPr lang="en-US" dirty="0" err="1"/>
              <a:t>дляпередачи</a:t>
            </a:r>
            <a:r>
              <a:rPr lang="en-US" dirty="0"/>
              <a:t> </a:t>
            </a:r>
            <a:r>
              <a:rPr lang="en-US" dirty="0" err="1"/>
              <a:t>по</a:t>
            </a:r>
            <a:r>
              <a:rPr lang="en-US" dirty="0"/>
              <a:t> </a:t>
            </a:r>
            <a:r>
              <a:rPr lang="en-US" dirty="0" err="1"/>
              <a:t>сети</a:t>
            </a:r>
            <a:r>
              <a:rPr lang="en-US" dirty="0"/>
              <a:t>».</a:t>
            </a:r>
          </a:p>
          <a:p>
            <a:pPr indent="-32766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354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FF248-5101-6EB1-CF64-142802D3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СРО 10-11 </a:t>
            </a:r>
            <a:r>
              <a:rPr lang="en-US" b="0" err="1"/>
              <a:t>Рассмотрение</a:t>
            </a:r>
            <a:r>
              <a:rPr lang="en-US" b="0" dirty="0"/>
              <a:t> </a:t>
            </a:r>
            <a:r>
              <a:rPr lang="en-US" b="0" err="1"/>
              <a:t>методоа</a:t>
            </a:r>
            <a:r>
              <a:rPr lang="en-US" b="0" dirty="0"/>
              <a:t> </a:t>
            </a:r>
            <a:r>
              <a:rPr lang="en-US" b="0" err="1"/>
              <a:t>доступа</a:t>
            </a:r>
            <a:r>
              <a:rPr lang="en-US" b="0" dirty="0"/>
              <a:t> к </a:t>
            </a:r>
            <a:r>
              <a:rPr lang="en-US" b="0" err="1"/>
              <a:t>академическим</a:t>
            </a:r>
            <a:r>
              <a:rPr lang="en-US" b="0" dirty="0"/>
              <a:t> </a:t>
            </a:r>
            <a:r>
              <a:rPr lang="en-US" b="0" err="1"/>
              <a:t>облачным</a:t>
            </a:r>
            <a:r>
              <a:rPr lang="en-US" b="0" dirty="0"/>
              <a:t> </a:t>
            </a:r>
            <a:r>
              <a:rPr lang="en-US" b="0" err="1"/>
              <a:t>ресурсам</a:t>
            </a:r>
            <a:endParaRPr lang="en-US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D0BC8-127F-6E72-55EC-12BB84B2D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9540" indent="0">
              <a:buNone/>
            </a:pP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академическим</a:t>
            </a:r>
            <a:r>
              <a:rPr lang="en-US" dirty="0"/>
              <a:t> </a:t>
            </a:r>
            <a:r>
              <a:rPr lang="en-US" dirty="0" err="1"/>
              <a:t>облачным</a:t>
            </a:r>
            <a:r>
              <a:rPr lang="en-US" dirty="0"/>
              <a:t> </a:t>
            </a:r>
            <a:r>
              <a:rPr lang="en-US" dirty="0" err="1"/>
              <a:t>ресурсам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структурирован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обеспечить</a:t>
            </a:r>
            <a:r>
              <a:rPr lang="en-US" dirty="0"/>
              <a:t> </a:t>
            </a:r>
            <a:r>
              <a:rPr lang="en-US" dirty="0" err="1"/>
              <a:t>баланс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удобством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исследователей</a:t>
            </a:r>
            <a:r>
              <a:rPr lang="en-US" dirty="0"/>
              <a:t> и </a:t>
            </a:r>
            <a:r>
              <a:rPr lang="en-US" dirty="0" err="1"/>
              <a:t>безопасностью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В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платформы</a:t>
            </a:r>
            <a:r>
              <a:rPr lang="en-US" dirty="0"/>
              <a:t> (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локальное</a:t>
            </a:r>
            <a:r>
              <a:rPr lang="en-US" dirty="0"/>
              <a:t> </a:t>
            </a:r>
            <a:r>
              <a:rPr lang="en-US" dirty="0" err="1"/>
              <a:t>университетское</a:t>
            </a:r>
            <a:r>
              <a:rPr lang="en-US" dirty="0"/>
              <a:t> </a:t>
            </a:r>
            <a:r>
              <a:rPr lang="en-US" dirty="0" err="1"/>
              <a:t>облако</a:t>
            </a:r>
            <a:r>
              <a:rPr lang="en-US" dirty="0"/>
              <a:t>, </a:t>
            </a:r>
            <a:r>
              <a:rPr lang="en-US" dirty="0" err="1"/>
              <a:t>национальные</a:t>
            </a:r>
            <a:r>
              <a:rPr lang="en-US" dirty="0"/>
              <a:t> </a:t>
            </a:r>
            <a:r>
              <a:rPr lang="en-US" dirty="0" err="1"/>
              <a:t>исследовательские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образовательные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гигантов</a:t>
            </a:r>
            <a:r>
              <a:rPr lang="en-US" dirty="0"/>
              <a:t> </a:t>
            </a:r>
            <a:r>
              <a:rPr lang="en-US" dirty="0" err="1"/>
              <a:t>вроде</a:t>
            </a:r>
            <a:r>
              <a:rPr lang="en-US" dirty="0"/>
              <a:t> AWS/Azure),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уровней</a:t>
            </a:r>
            <a:r>
              <a:rPr lang="en-US" dirty="0"/>
              <a:t>.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4FAAD-3DBD-50F6-942C-7EB447BD9365}"/>
              </a:ext>
            </a:extLst>
          </p:cNvPr>
          <p:cNvSpPr txBox="1"/>
          <p:nvPr/>
        </p:nvSpPr>
        <p:spPr>
          <a:xfrm>
            <a:off x="6096000" y="5176520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НАО «Евразийский Национальный университет имени 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Л.Н. Гумилева Институт цифровых наук и искусственного интелекта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Кафедра «Информатика» 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Группа Инф.о-32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0CFC4-371F-F56D-8C52-A3DBDAD6988A}"/>
              </a:ext>
            </a:extLst>
          </p:cNvPr>
          <p:cNvSpPr txBox="1"/>
          <p:nvPr/>
        </p:nvSpPr>
        <p:spPr>
          <a:xfrm>
            <a:off x="640080" y="5532120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Проверила: </a:t>
            </a:r>
            <a:r>
              <a:rPr lang="ru-RU" sz="1600" b="0" i="0" u="none" strike="noStrike" baseline="0">
                <a:solidFill>
                  <a:srgbClr val="000000"/>
                </a:solidFill>
                <a:latin typeface="Public Sans"/>
              </a:rPr>
              <a:t>Давлетова А.Х.</a:t>
            </a:r>
            <a: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  <a:t>​</a:t>
            </a:r>
            <a:b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</a:br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Выполнил: Волков В.В.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88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4909-2147-C4AA-AACB-3CC876E9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1. </a:t>
            </a:r>
            <a:r>
              <a:rPr lang="en-US" sz="3200" dirty="0" err="1"/>
              <a:t>Методы</a:t>
            </a:r>
            <a:r>
              <a:rPr lang="en-US" sz="3200" dirty="0"/>
              <a:t> </a:t>
            </a:r>
            <a:r>
              <a:rPr lang="en-US" sz="3200" dirty="0" err="1"/>
              <a:t>аутентификации</a:t>
            </a:r>
            <a:r>
              <a:rPr lang="en-US" sz="3200" dirty="0"/>
              <a:t> и </a:t>
            </a:r>
            <a:r>
              <a:rPr lang="en-US" sz="3200" dirty="0" err="1"/>
              <a:t>идентификации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2667D-70FB-CF36-5B33-8191EA3A2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042" y="1713321"/>
            <a:ext cx="10890928" cy="4845744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27660"/>
            <a:endParaRPr lang="en-US" sz="2200" dirty="0"/>
          </a:p>
          <a:p>
            <a:pPr marL="129540" indent="0">
              <a:buNone/>
            </a:pPr>
            <a:r>
              <a:rPr lang="en-US" sz="2200" dirty="0" err="1"/>
              <a:t>Это</a:t>
            </a:r>
            <a:r>
              <a:rPr lang="en-US" sz="2200" dirty="0"/>
              <a:t> «</a:t>
            </a:r>
            <a:r>
              <a:rPr lang="en-US" sz="2200" dirty="0" err="1"/>
              <a:t>входные</a:t>
            </a:r>
            <a:r>
              <a:rPr lang="en-US" sz="2200" dirty="0"/>
              <a:t> </a:t>
            </a:r>
            <a:r>
              <a:rPr lang="en-US" sz="2200" dirty="0" err="1"/>
              <a:t>ворота</a:t>
            </a:r>
            <a:r>
              <a:rPr lang="en-US" sz="2200" dirty="0"/>
              <a:t>» в </a:t>
            </a:r>
            <a:r>
              <a:rPr lang="en-US" sz="2200" dirty="0" err="1"/>
              <a:t>систему</a:t>
            </a:r>
            <a:r>
              <a:rPr lang="en-US" sz="2200" dirty="0"/>
              <a:t>. </a:t>
            </a:r>
            <a:r>
              <a:rPr lang="en-US" sz="2200" dirty="0" err="1"/>
              <a:t>Большинство</a:t>
            </a:r>
            <a:r>
              <a:rPr lang="en-US" sz="2200" dirty="0"/>
              <a:t> </a:t>
            </a:r>
            <a:r>
              <a:rPr lang="en-US" sz="2200" dirty="0" err="1"/>
              <a:t>академических</a:t>
            </a:r>
            <a:r>
              <a:rPr lang="en-US" sz="2200" dirty="0"/>
              <a:t> </a:t>
            </a:r>
            <a:r>
              <a:rPr lang="en-US" sz="2200" dirty="0" err="1"/>
              <a:t>сред</a:t>
            </a:r>
            <a:r>
              <a:rPr lang="en-US" sz="2200" dirty="0"/>
              <a:t> </a:t>
            </a:r>
            <a:r>
              <a:rPr lang="en-US" sz="2200" dirty="0" err="1"/>
              <a:t>используют</a:t>
            </a:r>
            <a:r>
              <a:rPr lang="en-US" sz="2200" dirty="0"/>
              <a:t> </a:t>
            </a:r>
            <a:r>
              <a:rPr lang="en-US" sz="2200" dirty="0" err="1"/>
              <a:t>федеративные</a:t>
            </a:r>
            <a:r>
              <a:rPr lang="en-US" sz="2200" dirty="0"/>
              <a:t> </a:t>
            </a:r>
            <a:r>
              <a:rPr lang="en-US" sz="2200" dirty="0" err="1"/>
              <a:t>системы</a:t>
            </a:r>
            <a:r>
              <a:rPr lang="en-US" sz="2200" dirty="0"/>
              <a:t>:</a:t>
            </a:r>
          </a:p>
          <a:p>
            <a:pPr marL="129540" indent="0">
              <a:buNone/>
            </a:pPr>
            <a:r>
              <a:rPr lang="en-US" sz="2200" dirty="0"/>
              <a:t>SSO (Single Sign-On): </a:t>
            </a:r>
            <a:r>
              <a:rPr lang="en-US" sz="2200" dirty="0" err="1"/>
              <a:t>Использование</a:t>
            </a:r>
            <a:r>
              <a:rPr lang="en-US" sz="2200" dirty="0"/>
              <a:t> </a:t>
            </a:r>
            <a:r>
              <a:rPr lang="en-US" sz="2200" dirty="0" err="1"/>
              <a:t>единой</a:t>
            </a:r>
            <a:r>
              <a:rPr lang="en-US" sz="2200" dirty="0"/>
              <a:t> </a:t>
            </a:r>
            <a:r>
              <a:rPr lang="en-US" sz="2200" dirty="0" err="1"/>
              <a:t>учетной</a:t>
            </a:r>
            <a:r>
              <a:rPr lang="en-US" sz="2200" dirty="0"/>
              <a:t> </a:t>
            </a:r>
            <a:r>
              <a:rPr lang="en-US" sz="2200" dirty="0" err="1"/>
              <a:t>записи</a:t>
            </a:r>
            <a:r>
              <a:rPr lang="en-US" sz="2200" dirty="0"/>
              <a:t> </a:t>
            </a:r>
            <a:r>
              <a:rPr lang="en-US" sz="2200" dirty="0" err="1"/>
              <a:t>университета</a:t>
            </a:r>
            <a:r>
              <a:rPr lang="en-US" sz="2200" dirty="0"/>
              <a:t> </a:t>
            </a:r>
            <a:r>
              <a:rPr lang="en-US" sz="2200" dirty="0" err="1"/>
              <a:t>для</a:t>
            </a:r>
            <a:r>
              <a:rPr lang="en-US" sz="2200" dirty="0"/>
              <a:t> </a:t>
            </a:r>
            <a:r>
              <a:rPr lang="en-US" sz="2200" dirty="0" err="1"/>
              <a:t>доступа</a:t>
            </a:r>
            <a:r>
              <a:rPr lang="en-US" sz="2200" dirty="0"/>
              <a:t> </a:t>
            </a:r>
            <a:r>
              <a:rPr lang="en-US" sz="2200" dirty="0" err="1"/>
              <a:t>ко</a:t>
            </a:r>
            <a:r>
              <a:rPr lang="en-US" sz="2200" dirty="0"/>
              <a:t> </a:t>
            </a:r>
            <a:r>
              <a:rPr lang="en-US" sz="2200" dirty="0" err="1"/>
              <a:t>всем</a:t>
            </a:r>
            <a:r>
              <a:rPr lang="en-US" sz="2200" dirty="0"/>
              <a:t> </a:t>
            </a:r>
            <a:r>
              <a:rPr lang="en-US" sz="2200" dirty="0" err="1"/>
              <a:t>ресурсам</a:t>
            </a:r>
            <a:r>
              <a:rPr lang="en-US" sz="2200" dirty="0"/>
              <a:t>.</a:t>
            </a:r>
            <a:endParaRPr lang="en-US"/>
          </a:p>
          <a:p>
            <a:pPr marL="129540" indent="0">
              <a:buNone/>
            </a:pPr>
            <a:r>
              <a:rPr lang="en-US" sz="2200" dirty="0"/>
              <a:t> Federated Identity (EduGAIN / РедУни): Позволяет использовать логин своего домашнего вуза для доступа к облакам других университетов или международных консорциумов.</a:t>
            </a:r>
            <a:endParaRPr lang="en-US"/>
          </a:p>
          <a:p>
            <a:pPr marL="129540" indent="0">
              <a:buNone/>
            </a:pPr>
            <a:r>
              <a:rPr lang="en-US" sz="2200" dirty="0" err="1"/>
              <a:t>Многофакторная</a:t>
            </a:r>
            <a:r>
              <a:rPr lang="en-US" sz="2200" dirty="0"/>
              <a:t> </a:t>
            </a:r>
            <a:r>
              <a:rPr lang="en-US" sz="2200" dirty="0" err="1"/>
              <a:t>аутентификация</a:t>
            </a:r>
            <a:r>
              <a:rPr lang="en-US" sz="2200" dirty="0"/>
              <a:t> (MFA): </a:t>
            </a:r>
            <a:r>
              <a:rPr lang="en-US" sz="2200" dirty="0" err="1"/>
              <a:t>Обязательное</a:t>
            </a:r>
            <a:r>
              <a:rPr lang="en-US" sz="2200" dirty="0"/>
              <a:t> </a:t>
            </a:r>
            <a:r>
              <a:rPr lang="en-US" sz="2200" dirty="0" err="1"/>
              <a:t>условие</a:t>
            </a:r>
            <a:r>
              <a:rPr lang="en-US" sz="2200" dirty="0"/>
              <a:t> </a:t>
            </a:r>
            <a:r>
              <a:rPr lang="en-US" sz="2200" dirty="0" err="1"/>
              <a:t>для</a:t>
            </a:r>
            <a:r>
              <a:rPr lang="en-US" sz="2200" dirty="0"/>
              <a:t> </a:t>
            </a:r>
            <a:r>
              <a:rPr lang="en-US" sz="2200" dirty="0" err="1"/>
              <a:t>работы</a:t>
            </a:r>
            <a:r>
              <a:rPr lang="en-US" sz="2200" dirty="0"/>
              <a:t> с </a:t>
            </a:r>
            <a:r>
              <a:rPr lang="en-US" sz="2200" dirty="0" err="1"/>
              <a:t>критически</a:t>
            </a:r>
            <a:r>
              <a:rPr lang="en-US" sz="2200" dirty="0"/>
              <a:t> </a:t>
            </a:r>
            <a:r>
              <a:rPr lang="en-US" sz="2200" dirty="0" err="1"/>
              <a:t>важными</a:t>
            </a:r>
            <a:r>
              <a:rPr lang="en-US" sz="2200" dirty="0"/>
              <a:t> </a:t>
            </a:r>
            <a:r>
              <a:rPr lang="en-US" sz="2200" dirty="0" err="1"/>
              <a:t>данными</a:t>
            </a:r>
            <a:r>
              <a:rPr lang="en-US" sz="2200" dirty="0"/>
              <a:t> 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вычислительными</a:t>
            </a:r>
            <a:r>
              <a:rPr lang="en-US" sz="2200" dirty="0"/>
              <a:t> </a:t>
            </a:r>
            <a:r>
              <a:rPr lang="en-US" sz="2200" dirty="0" err="1"/>
              <a:t>мощностями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9272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E70C-F4E9-33E5-448E-3B487B04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2. </a:t>
            </a:r>
            <a:r>
              <a:rPr lang="en-US" sz="3600" dirty="0" err="1"/>
              <a:t>Технические</a:t>
            </a:r>
            <a:r>
              <a:rPr lang="en-US" sz="3600" dirty="0"/>
              <a:t> </a:t>
            </a:r>
            <a:r>
              <a:rPr lang="en-US" sz="3600" dirty="0" err="1"/>
              <a:t>протоколы</a:t>
            </a:r>
            <a:r>
              <a:rPr lang="en-US" sz="3600" dirty="0"/>
              <a:t> </a:t>
            </a:r>
            <a:r>
              <a:rPr lang="en-US" sz="3600" dirty="0" err="1"/>
              <a:t>доступа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F5EF-7E07-996D-B743-24E0E2336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174" y="2115887"/>
            <a:ext cx="10890928" cy="4356914"/>
          </a:xfrm>
        </p:spPr>
        <p:txBody>
          <a:bodyPr>
            <a:normAutofit fontScale="85000" lnSpcReduction="20000"/>
          </a:bodyPr>
          <a:lstStyle/>
          <a:p>
            <a:pPr marL="129540" indent="0">
              <a:buNone/>
            </a:pPr>
            <a:r>
              <a:rPr lang="en-US" sz="2400" dirty="0"/>
              <a:t>В </a:t>
            </a:r>
            <a:r>
              <a:rPr lang="en-US" sz="2400" dirty="0" err="1"/>
              <a:t>зависимости</a:t>
            </a:r>
            <a:r>
              <a:rPr lang="en-US" sz="2400" dirty="0"/>
              <a:t> </a:t>
            </a:r>
            <a:r>
              <a:rPr lang="en-US" sz="2400" dirty="0" err="1"/>
              <a:t>от</a:t>
            </a:r>
            <a:r>
              <a:rPr lang="en-US" sz="2400" dirty="0"/>
              <a:t> </a:t>
            </a:r>
            <a:r>
              <a:rPr lang="en-US" sz="2400" dirty="0" err="1"/>
              <a:t>типа</a:t>
            </a:r>
            <a:r>
              <a:rPr lang="en-US" sz="2400" dirty="0"/>
              <a:t> </a:t>
            </a:r>
            <a:r>
              <a:rPr lang="en-US" sz="2400" dirty="0" err="1"/>
              <a:t>предоставляемой</a:t>
            </a:r>
            <a:r>
              <a:rPr lang="en-US" sz="2400" dirty="0"/>
              <a:t> </a:t>
            </a:r>
            <a:r>
              <a:rPr lang="en-US" sz="2400" dirty="0" err="1"/>
              <a:t>услуги</a:t>
            </a:r>
            <a:r>
              <a:rPr lang="en-US" sz="2400" dirty="0"/>
              <a:t> (IaaS, PaaS </a:t>
            </a:r>
            <a:r>
              <a:rPr lang="en-US" sz="2400" dirty="0" err="1"/>
              <a:t>или</a:t>
            </a:r>
            <a:r>
              <a:rPr lang="en-US" sz="2400" dirty="0"/>
              <a:t> SaaS), </a:t>
            </a:r>
            <a:r>
              <a:rPr lang="en-US" sz="2400" dirty="0" err="1"/>
              <a:t>используются</a:t>
            </a:r>
            <a:r>
              <a:rPr lang="en-US" sz="2400" dirty="0"/>
              <a:t> </a:t>
            </a:r>
            <a:r>
              <a:rPr lang="en-US" sz="2400" dirty="0" err="1"/>
              <a:t>разныеинтерфейсы</a:t>
            </a:r>
            <a:r>
              <a:rPr lang="en-US" sz="2400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Web-</a:t>
            </a:r>
            <a:r>
              <a:rPr lang="en-US" sz="2400" dirty="0" err="1"/>
              <a:t>порталы</a:t>
            </a:r>
            <a:r>
              <a:rPr lang="en-US" sz="2400" dirty="0"/>
              <a:t> (Dashboard): </a:t>
            </a:r>
            <a:r>
              <a:rPr lang="en-US" sz="2400" dirty="0" err="1"/>
              <a:t>Графические</a:t>
            </a:r>
            <a:r>
              <a:rPr lang="en-US" sz="2400" dirty="0"/>
              <a:t> </a:t>
            </a:r>
            <a:r>
              <a:rPr lang="en-US" sz="2400" dirty="0" err="1"/>
              <a:t>интерфейсы</a:t>
            </a:r>
            <a:r>
              <a:rPr lang="en-US" sz="2400" dirty="0"/>
              <a:t> (</a:t>
            </a:r>
            <a:r>
              <a:rPr lang="en-US" sz="2400" dirty="0" err="1"/>
              <a:t>например</a:t>
            </a:r>
            <a:r>
              <a:rPr lang="en-US" sz="2400" dirty="0"/>
              <a:t>, </a:t>
            </a:r>
            <a:r>
              <a:rPr lang="en-US" sz="2400" dirty="0" err="1"/>
              <a:t>на</a:t>
            </a:r>
            <a:r>
              <a:rPr lang="en-US" sz="2400" dirty="0"/>
              <a:t> </a:t>
            </a:r>
            <a:r>
              <a:rPr lang="en-US" sz="2400" dirty="0" err="1"/>
              <a:t>базе</a:t>
            </a:r>
            <a:r>
              <a:rPr lang="en-US" sz="2400" dirty="0"/>
              <a:t> OpenStack Dashboard </a:t>
            </a:r>
            <a:r>
              <a:rPr lang="en-US" sz="2400" dirty="0" err="1"/>
              <a:t>или</a:t>
            </a:r>
            <a:r>
              <a:rPr lang="en-US" sz="2400" dirty="0"/>
              <a:t> </a:t>
            </a:r>
            <a:r>
              <a:rPr lang="en-US" sz="2400" dirty="0" err="1"/>
              <a:t>проприетарных</a:t>
            </a:r>
            <a:r>
              <a:rPr lang="en-US" sz="2400" dirty="0"/>
              <a:t> </a:t>
            </a:r>
            <a:r>
              <a:rPr lang="en-US" sz="2400" dirty="0" err="1"/>
              <a:t>консолей</a:t>
            </a:r>
            <a:r>
              <a:rPr lang="en-US" sz="2400" dirty="0"/>
              <a:t>) </a:t>
            </a:r>
            <a:r>
              <a:rPr lang="en-US" sz="2400" dirty="0" err="1"/>
              <a:t>для</a:t>
            </a:r>
            <a:r>
              <a:rPr lang="en-US" sz="2400" dirty="0"/>
              <a:t> </a:t>
            </a:r>
            <a:r>
              <a:rPr lang="en-US" sz="2400" dirty="0" err="1"/>
              <a:t>управления</a:t>
            </a:r>
            <a:r>
              <a:rPr lang="en-US" sz="2400" dirty="0"/>
              <a:t> </a:t>
            </a:r>
            <a:r>
              <a:rPr lang="en-US" sz="2400" dirty="0" err="1"/>
              <a:t>виртуальными</a:t>
            </a:r>
            <a:r>
              <a:rPr lang="en-US" sz="2400" dirty="0"/>
              <a:t> </a:t>
            </a:r>
            <a:r>
              <a:rPr lang="en-US" sz="2400" dirty="0" err="1"/>
              <a:t>машинами</a:t>
            </a:r>
            <a:r>
              <a:rPr lang="en-US" sz="2400" dirty="0"/>
              <a:t> и хранилищами.*</a:t>
            </a:r>
            <a:endParaRPr lang="en-US"/>
          </a:p>
          <a:p>
            <a:pPr marL="0" indent="0">
              <a:buNone/>
            </a:pPr>
            <a:r>
              <a:rPr lang="en-US" sz="2400" dirty="0"/>
              <a:t>SSH (Secure Shell): </a:t>
            </a:r>
            <a:r>
              <a:rPr lang="en-US" sz="2400" dirty="0" err="1"/>
              <a:t>Основной</a:t>
            </a:r>
            <a:r>
              <a:rPr lang="en-US" sz="2400" dirty="0"/>
              <a:t> </a:t>
            </a:r>
            <a:r>
              <a:rPr lang="en-US" sz="2400" dirty="0" err="1"/>
              <a:t>метод</a:t>
            </a:r>
            <a:r>
              <a:rPr lang="en-US" sz="2400" dirty="0"/>
              <a:t> </a:t>
            </a:r>
            <a:r>
              <a:rPr lang="en-US" sz="2400" dirty="0" err="1"/>
              <a:t>для</a:t>
            </a:r>
            <a:r>
              <a:rPr lang="en-US" sz="2400" dirty="0"/>
              <a:t> </a:t>
            </a:r>
            <a:r>
              <a:rPr lang="en-US" sz="2400" dirty="0" err="1"/>
              <a:t>работы</a:t>
            </a:r>
            <a:r>
              <a:rPr lang="en-US" sz="2400" dirty="0"/>
              <a:t> с </a:t>
            </a:r>
            <a:r>
              <a:rPr lang="en-US" sz="2400" dirty="0" err="1"/>
              <a:t>вычислительными</a:t>
            </a:r>
            <a:r>
              <a:rPr lang="en-US" sz="2400" dirty="0"/>
              <a:t> </a:t>
            </a:r>
            <a:r>
              <a:rPr lang="en-US" sz="2400" dirty="0" err="1"/>
              <a:t>кластерами</a:t>
            </a:r>
            <a:r>
              <a:rPr lang="en-US" sz="2400" dirty="0"/>
              <a:t> и </a:t>
            </a:r>
            <a:r>
              <a:rPr lang="en-US" sz="2400" dirty="0" err="1"/>
              <a:t>серверами</a:t>
            </a:r>
            <a:r>
              <a:rPr lang="en-US" sz="2400" dirty="0"/>
              <a:t> </a:t>
            </a:r>
            <a:r>
              <a:rPr lang="en-US" sz="2400" dirty="0" err="1"/>
              <a:t>через</a:t>
            </a:r>
            <a:r>
              <a:rPr lang="en-US" sz="2400" dirty="0"/>
              <a:t> </a:t>
            </a:r>
            <a:r>
              <a:rPr lang="en-US" sz="2400" dirty="0" err="1"/>
              <a:t>терминал</a:t>
            </a:r>
            <a:r>
              <a:rPr lang="en-US" sz="2400" dirty="0"/>
              <a:t>. </a:t>
            </a:r>
            <a:r>
              <a:rPr lang="en-US" sz="2400" dirty="0" err="1"/>
              <a:t>Часто</a:t>
            </a:r>
            <a:r>
              <a:rPr lang="en-US" sz="2400" dirty="0"/>
              <a:t> </a:t>
            </a:r>
            <a:r>
              <a:rPr lang="en-US" sz="2400" dirty="0" err="1"/>
              <a:t>требует</a:t>
            </a:r>
            <a:r>
              <a:rPr lang="en-US" sz="2400" dirty="0"/>
              <a:t> </a:t>
            </a:r>
            <a:r>
              <a:rPr lang="en-US" sz="2400" dirty="0" err="1"/>
              <a:t>использования</a:t>
            </a:r>
            <a:r>
              <a:rPr lang="en-US" sz="2400" dirty="0"/>
              <a:t> SSH-</a:t>
            </a:r>
            <a:r>
              <a:rPr lang="en-US" sz="2400" dirty="0" err="1"/>
              <a:t>ключей</a:t>
            </a:r>
            <a:r>
              <a:rPr lang="en-US" sz="2400" dirty="0"/>
              <a:t> </a:t>
            </a:r>
            <a:r>
              <a:rPr lang="en-US" sz="2400" dirty="0" err="1"/>
              <a:t>вместо</a:t>
            </a:r>
            <a:r>
              <a:rPr lang="en-US" sz="2400" dirty="0"/>
              <a:t> </a:t>
            </a:r>
            <a:r>
              <a:rPr lang="en-US" sz="2400" dirty="0" err="1"/>
              <a:t>паролей</a:t>
            </a:r>
            <a:r>
              <a:rPr lang="en-US" sz="2400" dirty="0"/>
              <a:t>.</a:t>
            </a:r>
            <a:endParaRPr lang="en-US"/>
          </a:p>
          <a:p>
            <a:pPr marL="0" indent="0">
              <a:buNone/>
            </a:pPr>
            <a:r>
              <a:rPr lang="en-US" sz="2400" dirty="0"/>
              <a:t>API и CLI: </a:t>
            </a:r>
            <a:r>
              <a:rPr lang="en-US" sz="2400" dirty="0" err="1"/>
              <a:t>Использование</a:t>
            </a:r>
            <a:r>
              <a:rPr lang="en-US" sz="2400" dirty="0"/>
              <a:t> </a:t>
            </a:r>
            <a:r>
              <a:rPr lang="en-US" sz="2400" dirty="0" err="1"/>
              <a:t>командной</a:t>
            </a:r>
            <a:r>
              <a:rPr lang="en-US" sz="2400" dirty="0"/>
              <a:t> </a:t>
            </a:r>
            <a:r>
              <a:rPr lang="en-US" sz="2400" dirty="0" err="1"/>
              <a:t>строки</a:t>
            </a:r>
            <a:r>
              <a:rPr lang="en-US" sz="2400" dirty="0"/>
              <a:t> и </a:t>
            </a:r>
            <a:r>
              <a:rPr lang="en-US" sz="2400" dirty="0" err="1"/>
              <a:t>программных</a:t>
            </a:r>
            <a:r>
              <a:rPr lang="en-US" sz="2400" dirty="0"/>
              <a:t> </a:t>
            </a:r>
            <a:r>
              <a:rPr lang="en-US" sz="2400" dirty="0" err="1"/>
              <a:t>интерфейсов</a:t>
            </a:r>
            <a:r>
              <a:rPr lang="en-US" sz="2400" dirty="0"/>
              <a:t> </a:t>
            </a:r>
            <a:r>
              <a:rPr lang="en-US" sz="2400" dirty="0" err="1"/>
              <a:t>для</a:t>
            </a:r>
            <a:r>
              <a:rPr lang="en-US" sz="2400" dirty="0"/>
              <a:t> </a:t>
            </a:r>
            <a:r>
              <a:rPr lang="en-US" sz="2400" dirty="0" err="1"/>
              <a:t>автоматизации</a:t>
            </a:r>
            <a:r>
              <a:rPr lang="en-US" sz="2400" dirty="0"/>
              <a:t> </a:t>
            </a:r>
            <a:r>
              <a:rPr lang="en-US" sz="2400" dirty="0" err="1"/>
              <a:t>развертывания</a:t>
            </a:r>
            <a:r>
              <a:rPr lang="en-US" sz="2400" dirty="0"/>
              <a:t> </a:t>
            </a:r>
            <a:r>
              <a:rPr lang="en-US" sz="2400" dirty="0" err="1"/>
              <a:t>ресурсов</a:t>
            </a:r>
            <a:r>
              <a:rPr lang="en-US" sz="2400" dirty="0"/>
              <a:t> (Terraform, Ansible). </a:t>
            </a:r>
            <a:endParaRPr lang="en-US"/>
          </a:p>
          <a:p>
            <a:pPr marL="0" indent="0">
              <a:buNone/>
            </a:pPr>
            <a:r>
              <a:rPr lang="en-US" sz="2400" dirty="0"/>
              <a:t>VPN (Virtual Private Network): </a:t>
            </a:r>
            <a:r>
              <a:rPr lang="en-US" sz="2400" dirty="0" err="1"/>
              <a:t>Часто</a:t>
            </a:r>
            <a:r>
              <a:rPr lang="en-US" sz="2400" dirty="0"/>
              <a:t> </a:t>
            </a:r>
            <a:r>
              <a:rPr lang="en-US" sz="2400" dirty="0" err="1"/>
              <a:t>академические</a:t>
            </a:r>
            <a:r>
              <a:rPr lang="en-US" sz="2400" dirty="0"/>
              <a:t> </a:t>
            </a:r>
            <a:r>
              <a:rPr lang="en-US" sz="2400" dirty="0" err="1"/>
              <a:t>облака</a:t>
            </a:r>
            <a:r>
              <a:rPr lang="en-US" sz="2400" dirty="0"/>
              <a:t> </a:t>
            </a:r>
            <a:r>
              <a:rPr lang="en-US" sz="2400" dirty="0" err="1"/>
              <a:t>находятся</a:t>
            </a:r>
            <a:r>
              <a:rPr lang="en-US" sz="2400" dirty="0"/>
              <a:t> </a:t>
            </a:r>
            <a:r>
              <a:rPr lang="en-US" sz="2400" dirty="0" err="1"/>
              <a:t>внутри</a:t>
            </a:r>
            <a:r>
              <a:rPr lang="en-US" sz="2400" dirty="0"/>
              <a:t> </a:t>
            </a:r>
            <a:r>
              <a:rPr lang="en-US" sz="2400" dirty="0" err="1"/>
              <a:t>закрытого</a:t>
            </a:r>
            <a:r>
              <a:rPr lang="en-US" sz="2400" dirty="0"/>
              <a:t> </a:t>
            </a:r>
            <a:r>
              <a:rPr lang="en-US" sz="2400" dirty="0" err="1"/>
              <a:t>контура</a:t>
            </a:r>
            <a:r>
              <a:rPr lang="en-US" sz="2400" dirty="0"/>
              <a:t>, и </a:t>
            </a:r>
            <a:r>
              <a:rPr lang="en-US" sz="2400" dirty="0" err="1"/>
              <a:t>доступ</a:t>
            </a:r>
            <a:r>
              <a:rPr lang="en-US" sz="2400" dirty="0"/>
              <a:t> к </a:t>
            </a:r>
            <a:r>
              <a:rPr lang="en-US" sz="2400" dirty="0" err="1"/>
              <a:t>ним</a:t>
            </a:r>
            <a:r>
              <a:rPr lang="en-US" sz="2400" dirty="0"/>
              <a:t> </a:t>
            </a:r>
            <a:r>
              <a:rPr lang="en-US" sz="2400" dirty="0" err="1"/>
              <a:t>возможен</a:t>
            </a:r>
            <a:r>
              <a:rPr lang="en-US" sz="2400" dirty="0"/>
              <a:t> </a:t>
            </a:r>
            <a:r>
              <a:rPr lang="en-US" sz="2400" dirty="0" err="1"/>
              <a:t>только</a:t>
            </a:r>
            <a:r>
              <a:rPr lang="en-US" sz="2400" dirty="0"/>
              <a:t> </a:t>
            </a:r>
            <a:r>
              <a:rPr lang="en-US" sz="2400" dirty="0" err="1"/>
              <a:t>через</a:t>
            </a:r>
            <a:r>
              <a:rPr lang="en-US" sz="2400" dirty="0"/>
              <a:t> </a:t>
            </a:r>
            <a:r>
              <a:rPr lang="en-US" sz="2400" dirty="0" err="1"/>
              <a:t>защищенный</a:t>
            </a:r>
            <a:r>
              <a:rPr lang="en-US" sz="2400" dirty="0"/>
              <a:t> </a:t>
            </a:r>
            <a:r>
              <a:rPr lang="en-US" sz="2400" dirty="0" err="1"/>
              <a:t>туннель</a:t>
            </a:r>
            <a:r>
              <a:rPr lang="en-US" sz="2400" dirty="0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0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059A-9F66-2484-7DFC-7D3D1B9F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3 </a:t>
            </a:r>
            <a:r>
              <a:rPr lang="en-US" sz="2800" dirty="0" err="1"/>
              <a:t>Специализированные</a:t>
            </a:r>
            <a:r>
              <a:rPr lang="en-US" sz="2800" dirty="0"/>
              <a:t> </a:t>
            </a:r>
            <a:r>
              <a:rPr lang="en-US" sz="2800" dirty="0" err="1"/>
              <a:t>академические</a:t>
            </a:r>
            <a:r>
              <a:rPr lang="en-US" sz="2800" dirty="0"/>
              <a:t> </a:t>
            </a:r>
            <a:r>
              <a:rPr lang="en-US" sz="2800" dirty="0" err="1"/>
              <a:t>интерфейсы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AF17A-8369-A258-AC67-C2A17B255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83" y="1713321"/>
            <a:ext cx="10890928" cy="3566160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327660"/>
            <a:endParaRPr lang="en-US" sz="2400" dirty="0"/>
          </a:p>
          <a:p>
            <a:pPr marL="129540" indent="0">
              <a:buNone/>
            </a:pPr>
            <a:r>
              <a:rPr lang="en-US" sz="2400" dirty="0" err="1"/>
              <a:t>Для</a:t>
            </a:r>
            <a:r>
              <a:rPr lang="en-US" sz="2400" dirty="0"/>
              <a:t> </a:t>
            </a:r>
            <a:r>
              <a:rPr lang="en-US" sz="2400" dirty="0" err="1"/>
              <a:t>упрощения</a:t>
            </a:r>
            <a:r>
              <a:rPr lang="en-US" sz="2400" dirty="0"/>
              <a:t> </a:t>
            </a:r>
            <a:r>
              <a:rPr lang="en-US" sz="2400" dirty="0" err="1"/>
              <a:t>работы</a:t>
            </a:r>
            <a:r>
              <a:rPr lang="en-US" sz="2400" dirty="0"/>
              <a:t> </a:t>
            </a:r>
            <a:r>
              <a:rPr lang="en-US" sz="2400" dirty="0" err="1"/>
              <a:t>исследователей</a:t>
            </a:r>
            <a:r>
              <a:rPr lang="en-US" sz="2400" dirty="0"/>
              <a:t> </a:t>
            </a:r>
            <a:r>
              <a:rPr lang="en-US" sz="2400" dirty="0" err="1"/>
              <a:t>часто</a:t>
            </a:r>
            <a:r>
              <a:rPr lang="en-US" sz="2400" dirty="0"/>
              <a:t> </a:t>
            </a:r>
            <a:r>
              <a:rPr lang="en-US" sz="2400" dirty="0" err="1"/>
              <a:t>используются</a:t>
            </a:r>
            <a:r>
              <a:rPr lang="en-US" sz="2400" dirty="0"/>
              <a:t> </a:t>
            </a:r>
            <a:r>
              <a:rPr lang="en-US" sz="2400" dirty="0" err="1"/>
              <a:t>надстройки</a:t>
            </a:r>
            <a:r>
              <a:rPr lang="en-US" sz="2400" dirty="0"/>
              <a:t>:</a:t>
            </a:r>
          </a:p>
          <a:p>
            <a:pPr marL="129540" indent="0">
              <a:buNone/>
            </a:pPr>
            <a:r>
              <a:rPr lang="en-US" sz="2400" dirty="0"/>
              <a:t> </a:t>
            </a:r>
            <a:r>
              <a:rPr lang="en-US" sz="2400" dirty="0" err="1"/>
              <a:t>JupyterHub</a:t>
            </a:r>
            <a:r>
              <a:rPr lang="en-US" sz="2400" dirty="0"/>
              <a:t>: </a:t>
            </a:r>
            <a:r>
              <a:rPr lang="en-US" sz="2400" dirty="0" err="1"/>
              <a:t>Веб-интерфейс</a:t>
            </a:r>
            <a:r>
              <a:rPr lang="en-US" sz="2400" dirty="0"/>
              <a:t> </a:t>
            </a:r>
            <a:r>
              <a:rPr lang="en-US" sz="2400" dirty="0" err="1"/>
              <a:t>для</a:t>
            </a:r>
            <a:r>
              <a:rPr lang="en-US" sz="2400" dirty="0"/>
              <a:t> </a:t>
            </a:r>
            <a:r>
              <a:rPr lang="en-US" sz="2400" dirty="0" err="1"/>
              <a:t>написания</a:t>
            </a:r>
            <a:r>
              <a:rPr lang="en-US" sz="2400" dirty="0"/>
              <a:t> </a:t>
            </a:r>
            <a:r>
              <a:rPr lang="en-US" sz="2400" dirty="0" err="1"/>
              <a:t>кода</a:t>
            </a:r>
            <a:r>
              <a:rPr lang="en-US" sz="2400" dirty="0"/>
              <a:t> (Python, R) </a:t>
            </a:r>
            <a:r>
              <a:rPr lang="en-US" sz="2400" dirty="0" err="1"/>
              <a:t>непосредственно</a:t>
            </a:r>
            <a:r>
              <a:rPr lang="en-US" sz="2400" dirty="0"/>
              <a:t> в </a:t>
            </a:r>
            <a:r>
              <a:rPr lang="en-US" sz="2400" dirty="0" err="1"/>
              <a:t>браузере</a:t>
            </a:r>
            <a:r>
              <a:rPr lang="en-US" sz="2400" dirty="0"/>
              <a:t> с </a:t>
            </a:r>
            <a:r>
              <a:rPr lang="en-US" sz="2400" dirty="0" err="1"/>
              <a:t>использованием</a:t>
            </a:r>
            <a:r>
              <a:rPr lang="en-US" sz="2400" dirty="0"/>
              <a:t> </a:t>
            </a:r>
            <a:r>
              <a:rPr lang="en-US" sz="2400" dirty="0" err="1"/>
              <a:t>облачных</a:t>
            </a:r>
            <a:r>
              <a:rPr lang="en-US" sz="2400" dirty="0"/>
              <a:t> </a:t>
            </a:r>
            <a:r>
              <a:rPr lang="en-US" sz="2400" dirty="0" err="1"/>
              <a:t>мощностей</a:t>
            </a:r>
            <a:r>
              <a:rPr lang="en-US" sz="2400" dirty="0"/>
              <a:t>.</a:t>
            </a:r>
          </a:p>
          <a:p>
            <a:pPr marL="129540" indent="0">
              <a:buNone/>
            </a:pPr>
            <a:r>
              <a:rPr lang="en-US" sz="2400" dirty="0"/>
              <a:t> VDI (Virtual Desktop Infrastructure): </a:t>
            </a:r>
            <a:r>
              <a:rPr lang="en-US" sz="2400" dirty="0" err="1"/>
              <a:t>Удаленный</a:t>
            </a:r>
            <a:r>
              <a:rPr lang="en-US" sz="2400" dirty="0"/>
              <a:t> </a:t>
            </a:r>
            <a:r>
              <a:rPr lang="en-US" sz="2400" dirty="0" err="1"/>
              <a:t>рабочий</a:t>
            </a:r>
            <a:r>
              <a:rPr lang="en-US" sz="2400" dirty="0"/>
              <a:t> </a:t>
            </a:r>
            <a:r>
              <a:rPr lang="en-US" sz="2400" dirty="0" err="1"/>
              <a:t>стол</a:t>
            </a:r>
            <a:r>
              <a:rPr lang="en-US" sz="2400" dirty="0"/>
              <a:t> </a:t>
            </a:r>
            <a:r>
              <a:rPr lang="en-US" sz="2400" dirty="0" err="1"/>
              <a:t>со</a:t>
            </a:r>
            <a:r>
              <a:rPr lang="en-US" sz="2400" dirty="0"/>
              <a:t> </a:t>
            </a:r>
            <a:r>
              <a:rPr lang="en-US" sz="2400" dirty="0" err="1"/>
              <a:t>специфическим</a:t>
            </a:r>
            <a:r>
              <a:rPr lang="en-US" sz="2400" dirty="0"/>
              <a:t> </a:t>
            </a:r>
            <a:r>
              <a:rPr lang="en-US" sz="2400" dirty="0" err="1"/>
              <a:t>научным</a:t>
            </a:r>
            <a:r>
              <a:rPr lang="en-US" sz="2400" dirty="0"/>
              <a:t> ПО, </a:t>
            </a:r>
            <a:r>
              <a:rPr lang="en-US" sz="2400" dirty="0" err="1"/>
              <a:t>доступный</a:t>
            </a:r>
            <a:r>
              <a:rPr lang="en-US" sz="2400" dirty="0"/>
              <a:t> с </a:t>
            </a:r>
            <a:r>
              <a:rPr lang="en-US" sz="2400" dirty="0" err="1"/>
              <a:t>любого</a:t>
            </a:r>
            <a:r>
              <a:rPr lang="en-US" sz="2400" dirty="0"/>
              <a:t> </a:t>
            </a:r>
            <a:r>
              <a:rPr lang="en-US" sz="2400" dirty="0" err="1"/>
              <a:t>устройства</a:t>
            </a:r>
            <a:r>
              <a:rPr lang="en-US" sz="2400" dirty="0"/>
              <a:t>.</a:t>
            </a:r>
          </a:p>
          <a:p>
            <a:pPr marL="129540" indent="0">
              <a:buNone/>
            </a:pPr>
            <a:r>
              <a:rPr lang="en-US" sz="2400" dirty="0" err="1"/>
              <a:t>Резюме</a:t>
            </a:r>
            <a:r>
              <a:rPr lang="en-US" sz="2400" dirty="0"/>
              <a:t>: </a:t>
            </a:r>
            <a:r>
              <a:rPr lang="en-US" sz="2400" dirty="0" err="1"/>
              <a:t>Выбор</a:t>
            </a:r>
            <a:r>
              <a:rPr lang="en-US" sz="2400" dirty="0"/>
              <a:t> </a:t>
            </a:r>
            <a:r>
              <a:rPr lang="en-US" sz="2400" dirty="0" err="1"/>
              <a:t>метода</a:t>
            </a:r>
            <a:r>
              <a:rPr lang="en-US" sz="2400" dirty="0"/>
              <a:t> </a:t>
            </a:r>
            <a:r>
              <a:rPr lang="en-US" sz="2400" dirty="0" err="1"/>
              <a:t>зависит</a:t>
            </a:r>
            <a:r>
              <a:rPr lang="en-US" sz="2400" dirty="0"/>
              <a:t> </a:t>
            </a:r>
            <a:r>
              <a:rPr lang="en-US" sz="2400" dirty="0" err="1"/>
              <a:t>от</a:t>
            </a:r>
            <a:r>
              <a:rPr lang="en-US" sz="2400" dirty="0"/>
              <a:t> </a:t>
            </a:r>
            <a:r>
              <a:rPr lang="en-US" sz="2400" dirty="0" err="1"/>
              <a:t>ваших</a:t>
            </a:r>
            <a:r>
              <a:rPr lang="en-US" sz="2400" dirty="0"/>
              <a:t> </a:t>
            </a:r>
            <a:r>
              <a:rPr lang="en-US" sz="2400" dirty="0" err="1"/>
              <a:t>задач</a:t>
            </a:r>
            <a:r>
              <a:rPr lang="en-US" sz="2400" dirty="0"/>
              <a:t>. </a:t>
            </a:r>
            <a:r>
              <a:rPr lang="en-US" sz="2400" dirty="0" err="1"/>
              <a:t>Если</a:t>
            </a:r>
            <a:r>
              <a:rPr lang="en-US" sz="2400" dirty="0"/>
              <a:t> </a:t>
            </a:r>
            <a:r>
              <a:rPr lang="en-US" sz="2400" dirty="0" err="1"/>
              <a:t>это</a:t>
            </a:r>
            <a:r>
              <a:rPr lang="en-US" sz="2400" dirty="0"/>
              <a:t> </a:t>
            </a:r>
            <a:r>
              <a:rPr lang="en-US" sz="2400" dirty="0" err="1"/>
              <a:t>простая</a:t>
            </a:r>
            <a:r>
              <a:rPr lang="en-US" sz="2400" dirty="0"/>
              <a:t> </a:t>
            </a:r>
            <a:r>
              <a:rPr lang="en-US" sz="2400" dirty="0" err="1"/>
              <a:t>работа</a:t>
            </a:r>
            <a:r>
              <a:rPr lang="en-US" sz="2400" dirty="0"/>
              <a:t> с </a:t>
            </a:r>
            <a:r>
              <a:rPr lang="en-US" sz="2400" dirty="0" err="1"/>
              <a:t>данными</a:t>
            </a:r>
            <a:r>
              <a:rPr lang="en-US" sz="2400" dirty="0"/>
              <a:t> — </a:t>
            </a:r>
            <a:r>
              <a:rPr lang="en-US" sz="2400" dirty="0" err="1"/>
              <a:t>достаточно</a:t>
            </a:r>
            <a:r>
              <a:rPr lang="en-US" sz="2400" dirty="0"/>
              <a:t> </a:t>
            </a:r>
            <a:r>
              <a:rPr lang="en-US" sz="2400" dirty="0" err="1"/>
              <a:t>браузера</a:t>
            </a:r>
            <a:r>
              <a:rPr lang="en-US" sz="2400" dirty="0"/>
              <a:t> и SSO. </a:t>
            </a:r>
            <a:r>
              <a:rPr lang="en-US" sz="2400" dirty="0" err="1"/>
              <a:t>Если</a:t>
            </a:r>
            <a:r>
              <a:rPr lang="en-US" sz="2400" dirty="0"/>
              <a:t> 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требуется</a:t>
            </a:r>
            <a:r>
              <a:rPr lang="en-US" sz="2400" dirty="0"/>
              <a:t> </a:t>
            </a:r>
            <a:r>
              <a:rPr lang="en-US" sz="2400" dirty="0" err="1"/>
              <a:t>настройка</a:t>
            </a:r>
            <a:r>
              <a:rPr lang="en-US" sz="2400" dirty="0"/>
              <a:t> </a:t>
            </a:r>
            <a:r>
              <a:rPr lang="en-US" sz="2400" dirty="0" err="1"/>
              <a:t>кластеров</a:t>
            </a:r>
            <a:r>
              <a:rPr lang="en-US" sz="2400" dirty="0"/>
              <a:t> </a:t>
            </a:r>
            <a:r>
              <a:rPr lang="en-US" sz="2400" dirty="0" err="1"/>
              <a:t>под</a:t>
            </a:r>
            <a:r>
              <a:rPr lang="en-US" sz="2400" dirty="0"/>
              <a:t> </a:t>
            </a:r>
            <a:r>
              <a:rPr lang="en-US" sz="2400" dirty="0" err="1"/>
              <a:t>сложные</a:t>
            </a:r>
            <a:r>
              <a:rPr lang="en-US" sz="2400" dirty="0"/>
              <a:t> </a:t>
            </a:r>
            <a:r>
              <a:rPr lang="en-US" sz="2400" dirty="0" err="1"/>
              <a:t>вычисления</a:t>
            </a:r>
            <a:r>
              <a:rPr lang="en-US" sz="2400" dirty="0"/>
              <a:t> — </a:t>
            </a:r>
            <a:r>
              <a:rPr lang="en-US" sz="2400" dirty="0" err="1"/>
              <a:t>основным</a:t>
            </a:r>
            <a:r>
              <a:rPr lang="en-US" sz="2400" dirty="0"/>
              <a:t> </a:t>
            </a:r>
            <a:r>
              <a:rPr lang="en-US" sz="2400" dirty="0" err="1"/>
              <a:t>инструментом</a:t>
            </a:r>
            <a:r>
              <a:rPr lang="en-US" sz="2400" dirty="0"/>
              <a:t> </a:t>
            </a:r>
            <a:r>
              <a:rPr lang="en-US" sz="2400" dirty="0" err="1"/>
              <a:t>станут</a:t>
            </a:r>
            <a:r>
              <a:rPr lang="en-US" sz="2400" dirty="0"/>
              <a:t> SSH и CLI-</a:t>
            </a:r>
            <a:r>
              <a:rPr lang="en-US" sz="2400" dirty="0" err="1"/>
              <a:t>интерфейсы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1669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4F158-84DC-C965-74EC-9C2B9D0EC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22" y="1375818"/>
            <a:ext cx="10890929" cy="1758638"/>
          </a:xfrm>
        </p:spPr>
        <p:txBody>
          <a:bodyPr>
            <a:normAutofit fontScale="90000"/>
          </a:bodyPr>
          <a:lstStyle/>
          <a:p>
            <a:r>
              <a:rPr lang="en-US" dirty="0"/>
              <a:t>СРО 12 </a:t>
            </a:r>
            <a:r>
              <a:rPr lang="en-US" dirty="0" err="1"/>
              <a:t>Обзор</a:t>
            </a:r>
            <a:r>
              <a:rPr lang="en-US" dirty="0"/>
              <a:t> </a:t>
            </a:r>
            <a:r>
              <a:rPr lang="en-US" dirty="0" err="1"/>
              <a:t>интернет-ресурсов</a:t>
            </a:r>
            <a:r>
              <a:rPr lang="en-US" dirty="0"/>
              <a:t> </a:t>
            </a:r>
            <a:r>
              <a:rPr lang="en-US" dirty="0" err="1"/>
              <a:t>разработка</a:t>
            </a:r>
            <a:r>
              <a:rPr lang="en-US" dirty="0"/>
              <a:t> </a:t>
            </a:r>
            <a:r>
              <a:rPr lang="en-US" dirty="0" err="1"/>
              <a:t>доклада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теме</a:t>
            </a:r>
            <a:r>
              <a:rPr lang="en-US" dirty="0"/>
              <a:t> «</a:t>
            </a:r>
            <a:r>
              <a:rPr lang="en-US" dirty="0" err="1"/>
              <a:t>Виртуализация</a:t>
            </a:r>
            <a:r>
              <a:rPr lang="en-US" dirty="0"/>
              <a:t> и </a:t>
            </a:r>
            <a:r>
              <a:rPr lang="en-US" dirty="0" err="1"/>
              <a:t>облачные</a:t>
            </a:r>
            <a:r>
              <a:rPr lang="en-US" dirty="0"/>
              <a:t> </a:t>
            </a:r>
            <a:r>
              <a:rPr lang="en-US" dirty="0" err="1"/>
              <a:t>технологии</a:t>
            </a:r>
            <a:r>
              <a:rPr lang="en-US" dirty="0"/>
              <a:t>»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CDCFA-7C19-4794-4976-C5909DF8EA27}"/>
              </a:ext>
            </a:extLst>
          </p:cNvPr>
          <p:cNvSpPr txBox="1"/>
          <p:nvPr/>
        </p:nvSpPr>
        <p:spPr>
          <a:xfrm>
            <a:off x="6096000" y="5024120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aseline="0">
                <a:latin typeface="Times New Roman"/>
              </a:rPr>
              <a:t>НАО «Евразийский Национальный университет имени </a:t>
            </a:r>
            <a:r>
              <a:rPr lang="en-US" sz="1800" baseline="0">
                <a:latin typeface="Times New Roman"/>
              </a:rPr>
              <a:t>​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Л.Н. Гумилева Институт цифровых наук и искусственного интелекта</a:t>
            </a:r>
            <a:r>
              <a:rPr lang="en-US" sz="1800" baseline="0">
                <a:latin typeface="Times New Roman"/>
              </a:rPr>
              <a:t>​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Кафедра «Информатика» </a:t>
            </a:r>
            <a:r>
              <a:rPr lang="en-US" sz="1800" baseline="0">
                <a:latin typeface="Times New Roman"/>
              </a:rPr>
              <a:t>​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Группа Инф.о-32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D6D381-8635-97ED-5488-B3AF00F1E089}"/>
              </a:ext>
            </a:extLst>
          </p:cNvPr>
          <p:cNvSpPr txBox="1"/>
          <p:nvPr/>
        </p:nvSpPr>
        <p:spPr>
          <a:xfrm>
            <a:off x="650240" y="5725160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Проверила: </a:t>
            </a:r>
            <a:r>
              <a:rPr lang="ru-RU" sz="1600" b="0" i="0" u="none" strike="noStrike" baseline="0">
                <a:solidFill>
                  <a:srgbClr val="000000"/>
                </a:solidFill>
                <a:latin typeface="Public Sans"/>
              </a:rPr>
              <a:t>Давлетова А.Х.</a:t>
            </a:r>
            <a: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  <a:t>​</a:t>
            </a:r>
            <a:b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</a:br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Выполнил: Волков В.В.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22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963DC-7A79-7ACB-CF2F-7E84FC74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6900" y="563133"/>
            <a:ext cx="12199266" cy="6542271"/>
          </a:xfrm>
        </p:spPr>
        <p:txBody>
          <a:bodyPr>
            <a:normAutofit lnSpcReduction="10000"/>
          </a:bodyPr>
          <a:lstStyle/>
          <a:p>
            <a:pPr marL="129540" indent="0">
              <a:buNone/>
            </a:pPr>
            <a:r>
              <a:rPr lang="en-US" b="1" dirty="0"/>
              <a:t>1. </a:t>
            </a:r>
            <a:r>
              <a:rPr lang="en-US" b="1" dirty="0" err="1"/>
              <a:t>Образовательные</a:t>
            </a:r>
            <a:r>
              <a:rPr lang="en-US" b="1" dirty="0"/>
              <a:t> и </a:t>
            </a:r>
            <a:r>
              <a:rPr lang="en-US" b="1" dirty="0" err="1"/>
              <a:t>теоретические</a:t>
            </a:r>
            <a:r>
              <a:rPr lang="en-US" b="1" dirty="0"/>
              <a:t> </a:t>
            </a:r>
            <a:r>
              <a:rPr lang="en-US" b="1" dirty="0" err="1"/>
              <a:t>базы</a:t>
            </a:r>
          </a:p>
          <a:p>
            <a:pPr marL="129540" indent="0">
              <a:buNone/>
            </a:pPr>
            <a:r>
              <a:rPr lang="en-US" b="1" dirty="0"/>
              <a:t>Cloud.ru / </a:t>
            </a:r>
            <a:r>
              <a:rPr lang="en-US" b="1" dirty="0" err="1"/>
              <a:t>ITGlobal</a:t>
            </a:r>
            <a:r>
              <a:rPr lang="en-US" b="1" dirty="0"/>
              <a:t>: </a:t>
            </a:r>
            <a:r>
              <a:rPr lang="en-US" b="1" dirty="0" err="1"/>
              <a:t>Ведущие</a:t>
            </a:r>
            <a:r>
              <a:rPr lang="en-US" b="1" dirty="0"/>
              <a:t> </a:t>
            </a:r>
            <a:r>
              <a:rPr lang="en-US" b="1" dirty="0" err="1"/>
              <a:t>блоги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русском</a:t>
            </a:r>
            <a:r>
              <a:rPr lang="en-US" b="1" dirty="0"/>
              <a:t> </a:t>
            </a:r>
            <a:r>
              <a:rPr lang="en-US" b="1" dirty="0" err="1"/>
              <a:t>языке</a:t>
            </a:r>
            <a:r>
              <a:rPr lang="en-US" b="1" dirty="0"/>
              <a:t> с </a:t>
            </a:r>
            <a:r>
              <a:rPr lang="en-US" b="1" dirty="0" err="1"/>
              <a:t>глубоким</a:t>
            </a:r>
            <a:r>
              <a:rPr lang="en-US" b="1" dirty="0"/>
              <a:t> </a:t>
            </a:r>
            <a:r>
              <a:rPr lang="en-US" b="1" dirty="0" err="1"/>
              <a:t>разбором</a:t>
            </a:r>
            <a:r>
              <a:rPr lang="en-US" b="1" dirty="0"/>
              <a:t> </a:t>
            </a:r>
            <a:r>
              <a:rPr lang="en-US" b="1" dirty="0" err="1"/>
              <a:t>архитектуры</a:t>
            </a:r>
            <a:r>
              <a:rPr lang="en-US" b="1" dirty="0"/>
              <a:t> </a:t>
            </a:r>
            <a:r>
              <a:rPr lang="en-US" b="1" dirty="0" err="1"/>
              <a:t>гипервизоров</a:t>
            </a:r>
            <a:r>
              <a:rPr lang="en-US" b="1" dirty="0"/>
              <a:t> и </a:t>
            </a:r>
            <a:r>
              <a:rPr lang="en-US" b="1" dirty="0" err="1"/>
              <a:t>разницы</a:t>
            </a:r>
            <a:r>
              <a:rPr lang="en-US" b="1" dirty="0"/>
              <a:t> </a:t>
            </a:r>
            <a:r>
              <a:rPr lang="en-US" b="1" dirty="0" err="1"/>
              <a:t>между</a:t>
            </a:r>
            <a:r>
              <a:rPr lang="en-US" b="1" dirty="0"/>
              <a:t> </a:t>
            </a:r>
            <a:r>
              <a:rPr lang="en-US" b="1" dirty="0" err="1"/>
              <a:t>типами</a:t>
            </a:r>
            <a:r>
              <a:rPr lang="en-US" b="1" dirty="0"/>
              <a:t> </a:t>
            </a:r>
            <a:r>
              <a:rPr lang="en-US" b="1" dirty="0" err="1"/>
              <a:t>облаков</a:t>
            </a:r>
            <a:r>
              <a:rPr lang="en-US" b="1" dirty="0"/>
              <a:t> (IaaS, PaaS, SaaS).</a:t>
            </a:r>
          </a:p>
          <a:p>
            <a:pPr marL="129540" indent="0">
              <a:buNone/>
            </a:pPr>
            <a:r>
              <a:rPr lang="en-US" b="1" dirty="0"/>
              <a:t>Habr (</a:t>
            </a:r>
            <a:r>
              <a:rPr lang="en-US" b="1" dirty="0" err="1"/>
              <a:t>разделы</a:t>
            </a:r>
            <a:r>
              <a:rPr lang="en-US" b="1" dirty="0"/>
              <a:t> «</a:t>
            </a:r>
            <a:r>
              <a:rPr lang="en-US" b="1" dirty="0" err="1"/>
              <a:t>Виртуализация</a:t>
            </a:r>
            <a:r>
              <a:rPr lang="en-US" b="1" dirty="0"/>
              <a:t>» и «</a:t>
            </a:r>
            <a:r>
              <a:rPr lang="en-US" b="1" dirty="0" err="1"/>
              <a:t>Облачные</a:t>
            </a:r>
            <a:r>
              <a:rPr lang="en-US" b="1" dirty="0"/>
              <a:t> </a:t>
            </a:r>
            <a:r>
              <a:rPr lang="en-US" b="1" dirty="0" err="1"/>
              <a:t>технологии</a:t>
            </a:r>
            <a:r>
              <a:rPr lang="en-US" b="1" dirty="0"/>
              <a:t>»): </a:t>
            </a:r>
            <a:r>
              <a:rPr lang="en-US" b="1" dirty="0" err="1"/>
              <a:t>Кейсы</a:t>
            </a:r>
            <a:r>
              <a:rPr lang="en-US" b="1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миграции</a:t>
            </a:r>
            <a:r>
              <a:rPr lang="en-US" b="1" dirty="0"/>
              <a:t>, </a:t>
            </a:r>
            <a:r>
              <a:rPr lang="en-US" b="1" dirty="0" err="1"/>
              <a:t>настройке</a:t>
            </a:r>
            <a:r>
              <a:rPr lang="en-US" b="1" dirty="0"/>
              <a:t> OpenStack, </a:t>
            </a:r>
            <a:r>
              <a:rPr lang="en-US" b="1" dirty="0" err="1"/>
              <a:t>Proxmox</a:t>
            </a:r>
            <a:r>
              <a:rPr lang="en-US" b="1" dirty="0"/>
              <a:t> и </a:t>
            </a:r>
            <a:r>
              <a:rPr lang="en-US" b="1" dirty="0" err="1"/>
              <a:t>работе</a:t>
            </a:r>
            <a:r>
              <a:rPr lang="en-US" b="1" dirty="0"/>
              <a:t> с </a:t>
            </a:r>
            <a:r>
              <a:rPr lang="en-US" b="1" dirty="0" err="1"/>
              <a:t>контейнерами</a:t>
            </a:r>
            <a:r>
              <a:rPr lang="en-US" b="1" dirty="0"/>
              <a:t> (Docker, Kubernetes).</a:t>
            </a:r>
          </a:p>
          <a:p>
            <a:pPr marL="129540" indent="0">
              <a:buNone/>
            </a:pPr>
            <a:r>
              <a:rPr lang="en-US" b="1" dirty="0"/>
              <a:t>Coursera / </a:t>
            </a:r>
            <a:r>
              <a:rPr lang="en-US" b="1" dirty="0" err="1"/>
              <a:t>Stepik</a:t>
            </a:r>
            <a:r>
              <a:rPr lang="en-US" b="1" dirty="0"/>
              <a:t>: </a:t>
            </a:r>
            <a:r>
              <a:rPr lang="en-US" b="1" dirty="0" err="1"/>
              <a:t>Курсы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ведущих</a:t>
            </a:r>
            <a:r>
              <a:rPr lang="en-US" b="1" dirty="0"/>
              <a:t> </a:t>
            </a:r>
            <a:r>
              <a:rPr lang="en-US" b="1" dirty="0" err="1"/>
              <a:t>вузов</a:t>
            </a:r>
            <a:r>
              <a:rPr lang="en-US" b="1" dirty="0"/>
              <a:t> и </a:t>
            </a:r>
            <a:r>
              <a:rPr lang="en-US" b="1" dirty="0" err="1"/>
              <a:t>вендоров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актуализации</a:t>
            </a:r>
            <a:r>
              <a:rPr lang="en-US" b="1" dirty="0"/>
              <a:t> </a:t>
            </a:r>
            <a:r>
              <a:rPr lang="en-US" b="1" dirty="0" err="1"/>
              <a:t>знаний</a:t>
            </a:r>
            <a:r>
              <a:rPr lang="en-US" b="1" dirty="0"/>
              <a:t> о </a:t>
            </a:r>
            <a:r>
              <a:rPr lang="en-US" b="1" dirty="0" err="1"/>
              <a:t>стандартах</a:t>
            </a:r>
            <a:r>
              <a:rPr lang="en-US" b="1" dirty="0"/>
              <a:t> 2025–2026 </a:t>
            </a:r>
            <a:r>
              <a:rPr lang="en-US" b="1" dirty="0" err="1"/>
              <a:t>гг</a:t>
            </a:r>
            <a:r>
              <a:rPr lang="en-US" b="1" dirty="0"/>
              <a:t>.</a:t>
            </a:r>
          </a:p>
          <a:p>
            <a:pPr marL="129540" indent="0">
              <a:buNone/>
            </a:pPr>
            <a:r>
              <a:rPr lang="en-US" b="1" dirty="0"/>
              <a:t>2. </a:t>
            </a:r>
            <a:r>
              <a:rPr lang="en-US" b="1" dirty="0" err="1"/>
              <a:t>Аналитика</a:t>
            </a:r>
            <a:r>
              <a:rPr lang="en-US" b="1" dirty="0"/>
              <a:t> и </a:t>
            </a:r>
            <a:r>
              <a:rPr lang="en-US" b="1" dirty="0" err="1"/>
              <a:t>тренды</a:t>
            </a:r>
          </a:p>
          <a:p>
            <a:pPr marL="129540" indent="0">
              <a:buNone/>
            </a:pPr>
            <a:r>
              <a:rPr lang="en-US" b="1" dirty="0"/>
              <a:t>Gartner: </a:t>
            </a:r>
            <a:r>
              <a:rPr lang="en-US" b="1" dirty="0" err="1"/>
              <a:t>Отчеты</a:t>
            </a:r>
            <a:r>
              <a:rPr lang="en-US" b="1" dirty="0"/>
              <a:t> о «Top Strategic Technology Trends 2026», </a:t>
            </a:r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особое</a:t>
            </a:r>
            <a:r>
              <a:rPr lang="en-US" b="1" dirty="0"/>
              <a:t> </a:t>
            </a:r>
            <a:r>
              <a:rPr lang="en-US" b="1" dirty="0" err="1"/>
              <a:t>внимание</a:t>
            </a:r>
            <a:r>
              <a:rPr lang="en-US" b="1" dirty="0"/>
              <a:t> </a:t>
            </a:r>
            <a:r>
              <a:rPr lang="en-US" b="1" dirty="0" err="1"/>
              <a:t>уделяется</a:t>
            </a:r>
            <a:r>
              <a:rPr lang="en-US" b="1" dirty="0"/>
              <a:t> ИИ-</a:t>
            </a:r>
            <a:r>
              <a:rPr lang="en-US" b="1" dirty="0" err="1"/>
              <a:t>агентам</a:t>
            </a:r>
            <a:r>
              <a:rPr lang="en-US" b="1" dirty="0"/>
              <a:t> в </a:t>
            </a:r>
            <a:r>
              <a:rPr lang="en-US" b="1" dirty="0" err="1"/>
              <a:t>облаках</a:t>
            </a:r>
            <a:r>
              <a:rPr lang="en-US" b="1" dirty="0"/>
              <a:t>.</a:t>
            </a:r>
          </a:p>
          <a:p>
            <a:pPr marL="129540" indent="0">
              <a:buNone/>
            </a:pPr>
            <a:r>
              <a:rPr lang="en-US" b="1" dirty="0"/>
              <a:t> </a:t>
            </a:r>
            <a:r>
              <a:rPr lang="en-US" b="1" dirty="0" err="1"/>
              <a:t>CNews</a:t>
            </a:r>
            <a:r>
              <a:rPr lang="en-US" b="1" dirty="0"/>
              <a:t> / </a:t>
            </a:r>
            <a:r>
              <a:rPr lang="en-US" b="1" dirty="0" err="1"/>
              <a:t>TAdviser</a:t>
            </a:r>
            <a:r>
              <a:rPr lang="en-US" b="1" dirty="0"/>
              <a:t>: </a:t>
            </a:r>
            <a:r>
              <a:rPr lang="en-US" b="1" dirty="0" err="1"/>
              <a:t>Статистика</a:t>
            </a:r>
            <a:r>
              <a:rPr lang="en-US" b="1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рынку</a:t>
            </a:r>
            <a:r>
              <a:rPr lang="en-US" b="1" dirty="0"/>
              <a:t> СНГ, </a:t>
            </a:r>
            <a:r>
              <a:rPr lang="en-US" b="1" dirty="0" err="1"/>
              <a:t>импортозамещению</a:t>
            </a:r>
            <a:r>
              <a:rPr lang="en-US" b="1" dirty="0"/>
              <a:t> (</a:t>
            </a:r>
            <a:r>
              <a:rPr lang="en-US" b="1" dirty="0" err="1"/>
              <a:t>переход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платформы</a:t>
            </a:r>
            <a:r>
              <a:rPr lang="en-US" b="1" dirty="0"/>
              <a:t> </a:t>
            </a:r>
            <a:r>
              <a:rPr lang="en-US" b="1" dirty="0" err="1"/>
              <a:t>vStack</a:t>
            </a:r>
            <a:r>
              <a:rPr lang="en-US" b="1" dirty="0"/>
              <a:t>, «</a:t>
            </a:r>
            <a:r>
              <a:rPr lang="en-US" b="1" dirty="0" err="1"/>
              <a:t>Брест</a:t>
            </a:r>
            <a:r>
              <a:rPr lang="en-US" b="1" dirty="0"/>
              <a:t>», Р-</a:t>
            </a:r>
            <a:r>
              <a:rPr lang="en-US" b="1" dirty="0" err="1"/>
              <a:t>Виртуализация</a:t>
            </a:r>
            <a:r>
              <a:rPr lang="en-US" b="1" dirty="0"/>
              <a:t>) и </a:t>
            </a:r>
            <a:r>
              <a:rPr lang="en-US" b="1" dirty="0" err="1"/>
              <a:t>развитию</a:t>
            </a:r>
            <a:r>
              <a:rPr lang="en-US" b="1" dirty="0"/>
              <a:t> ЦОД.</a:t>
            </a:r>
          </a:p>
          <a:p>
            <a:pPr marL="129540" indent="0">
              <a:buNone/>
            </a:pPr>
            <a:r>
              <a:rPr lang="en-US" b="1" dirty="0"/>
              <a:t>3. </a:t>
            </a:r>
            <a:r>
              <a:rPr lang="en-US" b="1" dirty="0" err="1"/>
              <a:t>Практические</a:t>
            </a:r>
            <a:r>
              <a:rPr lang="en-US" b="1" dirty="0"/>
              <a:t> </a:t>
            </a:r>
            <a:r>
              <a:rPr lang="en-US" b="1" dirty="0" err="1"/>
              <a:t>площадки</a:t>
            </a:r>
            <a:r>
              <a:rPr lang="en-US" b="1" dirty="0"/>
              <a:t> (</a:t>
            </a:r>
            <a:r>
              <a:rPr lang="en-US" b="1" dirty="0" err="1"/>
              <a:t>Казахстан</a:t>
            </a:r>
            <a:r>
              <a:rPr lang="en-US" b="1" dirty="0"/>
              <a:t> и СНГ)</a:t>
            </a:r>
          </a:p>
          <a:p>
            <a:pPr marL="129540" indent="0">
              <a:buNone/>
            </a:pPr>
            <a:r>
              <a:rPr lang="en-US" b="1" dirty="0"/>
              <a:t>Serverspace.kz / Oblako.kz: </a:t>
            </a:r>
            <a:r>
              <a:rPr lang="en-US" b="1" dirty="0" err="1"/>
              <a:t>Примеры</a:t>
            </a:r>
            <a:r>
              <a:rPr lang="en-US" b="1" dirty="0"/>
              <a:t> </a:t>
            </a:r>
            <a:r>
              <a:rPr lang="en-US" b="1" dirty="0" err="1"/>
              <a:t>локальных</a:t>
            </a:r>
            <a:r>
              <a:rPr lang="en-US" b="1" dirty="0"/>
              <a:t> </a:t>
            </a:r>
            <a:r>
              <a:rPr lang="en-US" b="1" dirty="0" err="1"/>
              <a:t>провайдеров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изучения</a:t>
            </a:r>
            <a:r>
              <a:rPr lang="en-US" b="1" dirty="0"/>
              <a:t> </a:t>
            </a:r>
            <a:r>
              <a:rPr lang="en-US" b="1" dirty="0" err="1"/>
              <a:t>тарификации</a:t>
            </a:r>
            <a:r>
              <a:rPr lang="en-US" b="1" dirty="0"/>
              <a:t> и </a:t>
            </a:r>
            <a:r>
              <a:rPr lang="en-US" b="1" dirty="0" err="1"/>
              <a:t>доступных</a:t>
            </a:r>
            <a:r>
              <a:rPr lang="en-US" b="1" dirty="0"/>
              <a:t> </a:t>
            </a:r>
            <a:r>
              <a:rPr lang="en-US" b="1" dirty="0" err="1"/>
              <a:t>инструментов</a:t>
            </a:r>
            <a:r>
              <a:rPr lang="en-US" b="1" dirty="0"/>
              <a:t> (S3-хранилища, VPS/VDS).</a:t>
            </a:r>
          </a:p>
        </p:txBody>
      </p:sp>
    </p:spTree>
    <p:extLst>
      <p:ext uri="{BB962C8B-B14F-4D97-AF65-F5344CB8AC3E}">
        <p14:creationId xmlns:p14="http://schemas.microsoft.com/office/powerpoint/2010/main" val="1524189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E46FA-BFC8-CF62-F60E-E834BE68F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035"/>
            <a:ext cx="10890929" cy="1097280"/>
          </a:xfrm>
        </p:spPr>
        <p:txBody>
          <a:bodyPr/>
          <a:lstStyle/>
          <a:p>
            <a:r>
              <a:rPr lang="en-US" sz="3600" dirty="0" err="1"/>
              <a:t>Структура</a:t>
            </a:r>
            <a:r>
              <a:rPr lang="en-US" sz="3600" dirty="0"/>
              <a:t> и </a:t>
            </a:r>
            <a:r>
              <a:rPr lang="en-US" sz="3600" dirty="0" err="1"/>
              <a:t>тезисы</a:t>
            </a:r>
            <a:r>
              <a:rPr lang="en-US" sz="3600" dirty="0"/>
              <a:t> </a:t>
            </a:r>
            <a:r>
              <a:rPr lang="en-US" sz="3600" dirty="0" err="1"/>
              <a:t>доклада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5D066-53E7-0159-799A-E3B47C552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7" y="764415"/>
            <a:ext cx="12184889" cy="5880914"/>
          </a:xfrm>
        </p:spPr>
        <p:txBody>
          <a:bodyPr>
            <a:normAutofit/>
          </a:bodyPr>
          <a:lstStyle/>
          <a:p>
            <a:pPr indent="-327660"/>
            <a:endParaRPr lang="en-US" dirty="0"/>
          </a:p>
          <a:p>
            <a:pPr marL="129540" indent="0">
              <a:buNone/>
            </a:pPr>
            <a:r>
              <a:rPr lang="en-US" dirty="0" err="1"/>
              <a:t>Введение</a:t>
            </a:r>
            <a:endParaRPr lang="en-US" dirty="0"/>
          </a:p>
          <a:p>
            <a:pPr marL="129540" indent="0">
              <a:buNone/>
            </a:pPr>
            <a:r>
              <a:rPr lang="en-US" dirty="0" err="1"/>
              <a:t>Определение</a:t>
            </a:r>
            <a:r>
              <a:rPr lang="en-US" dirty="0"/>
              <a:t>: </a:t>
            </a:r>
            <a:r>
              <a:rPr lang="en-US" dirty="0" err="1"/>
              <a:t>Виртуализация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программного</a:t>
            </a:r>
            <a:r>
              <a:rPr lang="en-US" dirty="0"/>
              <a:t> (</a:t>
            </a:r>
            <a:r>
              <a:rPr lang="en-US" dirty="0" err="1"/>
              <a:t>виртуального</a:t>
            </a:r>
            <a:r>
              <a:rPr lang="en-US" dirty="0"/>
              <a:t>)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физического</a:t>
            </a:r>
            <a:r>
              <a:rPr lang="en-US" dirty="0"/>
              <a:t> </a:t>
            </a:r>
            <a:r>
              <a:rPr lang="en-US" dirty="0" err="1"/>
              <a:t>ресурса</a:t>
            </a:r>
            <a:r>
              <a:rPr lang="en-US" dirty="0"/>
              <a:t> (</a:t>
            </a:r>
            <a:r>
              <a:rPr lang="en-US" dirty="0" err="1"/>
              <a:t>сервера</a:t>
            </a:r>
            <a:r>
              <a:rPr lang="en-US" dirty="0"/>
              <a:t>, </a:t>
            </a:r>
            <a:r>
              <a:rPr lang="en-US" dirty="0" err="1"/>
              <a:t>сети</a:t>
            </a:r>
            <a:r>
              <a:rPr lang="en-US" dirty="0"/>
              <a:t>, </a:t>
            </a:r>
            <a:r>
              <a:rPr lang="en-US" dirty="0" err="1"/>
              <a:t>хранилища</a:t>
            </a:r>
            <a:r>
              <a:rPr lang="en-US" dirty="0"/>
              <a:t>).</a:t>
            </a:r>
          </a:p>
          <a:p>
            <a:pPr marL="129540" indent="0">
              <a:buNone/>
            </a:pPr>
            <a:r>
              <a:rPr lang="en-US" dirty="0" err="1"/>
              <a:t>Связь</a:t>
            </a:r>
            <a:r>
              <a:rPr lang="en-US" dirty="0"/>
              <a:t>: </a:t>
            </a:r>
            <a:r>
              <a:rPr lang="en-US" dirty="0" err="1"/>
              <a:t>Виртуализация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технология</a:t>
            </a:r>
            <a:r>
              <a:rPr lang="en-US" dirty="0"/>
              <a:t>, а </a:t>
            </a:r>
            <a:r>
              <a:rPr lang="en-US" dirty="0" err="1"/>
              <a:t>облачные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доставки</a:t>
            </a:r>
            <a:r>
              <a:rPr lang="en-US" dirty="0"/>
              <a:t> ИТ-</a:t>
            </a:r>
            <a:r>
              <a:rPr lang="en-US" dirty="0" err="1"/>
              <a:t>услуг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/>
              <a:t>1. </a:t>
            </a:r>
            <a:r>
              <a:rPr lang="en-US" dirty="0" err="1"/>
              <a:t>Виртуализация</a:t>
            </a:r>
            <a:r>
              <a:rPr lang="en-US" dirty="0"/>
              <a:t>: </a:t>
            </a:r>
            <a:r>
              <a:rPr lang="en-US" dirty="0" err="1"/>
              <a:t>фундамент</a:t>
            </a:r>
            <a:r>
              <a:rPr lang="en-US" dirty="0"/>
              <a:t> </a:t>
            </a:r>
            <a:r>
              <a:rPr lang="en-US" dirty="0" err="1"/>
              <a:t>технологий</a:t>
            </a:r>
            <a:endParaRPr lang="en-US" dirty="0"/>
          </a:p>
          <a:p>
            <a:pPr marL="129540" indent="0">
              <a:buNone/>
            </a:pP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виртуализации</a:t>
            </a:r>
            <a:r>
              <a:rPr lang="en-US" dirty="0"/>
              <a:t>: </a:t>
            </a:r>
            <a:r>
              <a:rPr lang="en-US" dirty="0" err="1"/>
              <a:t>Серверная</a:t>
            </a:r>
            <a:r>
              <a:rPr lang="en-US" dirty="0"/>
              <a:t> (</a:t>
            </a:r>
            <a:r>
              <a:rPr lang="en-US" dirty="0" err="1"/>
              <a:t>гипервизоры</a:t>
            </a:r>
            <a:r>
              <a:rPr lang="en-US" dirty="0"/>
              <a:t> Type 1 и Type 2), </a:t>
            </a:r>
            <a:r>
              <a:rPr lang="en-US" dirty="0" err="1"/>
              <a:t>сетевая</a:t>
            </a:r>
            <a:r>
              <a:rPr lang="en-US" dirty="0"/>
              <a:t> (SDN), </a:t>
            </a:r>
            <a:r>
              <a:rPr lang="en-US" dirty="0" err="1"/>
              <a:t>виртуализация</a:t>
            </a:r>
            <a:r>
              <a:rPr lang="en-US" dirty="0"/>
              <a:t> </a:t>
            </a:r>
            <a:r>
              <a:rPr lang="en-US" dirty="0" err="1"/>
              <a:t>хранилищ</a:t>
            </a:r>
            <a:r>
              <a:rPr lang="en-US" dirty="0"/>
              <a:t> (SDS).</a:t>
            </a:r>
          </a:p>
          <a:p>
            <a:pPr marL="129540" indent="0">
              <a:buNone/>
            </a:pPr>
            <a:r>
              <a:rPr lang="en-US" dirty="0" err="1"/>
              <a:t>Контейнеризация</a:t>
            </a:r>
            <a:r>
              <a:rPr lang="en-US" dirty="0"/>
              <a:t>: </a:t>
            </a:r>
            <a:r>
              <a:rPr lang="en-US" dirty="0" err="1"/>
              <a:t>Переход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«</a:t>
            </a:r>
            <a:r>
              <a:rPr lang="en-US" dirty="0" err="1"/>
              <a:t>тяжелых</a:t>
            </a:r>
            <a:r>
              <a:rPr lang="en-US" dirty="0"/>
              <a:t>» </a:t>
            </a:r>
            <a:r>
              <a:rPr lang="en-US" dirty="0" err="1"/>
              <a:t>виртуальных</a:t>
            </a:r>
            <a:r>
              <a:rPr lang="en-US" dirty="0"/>
              <a:t> </a:t>
            </a:r>
            <a:r>
              <a:rPr lang="en-US" dirty="0" err="1"/>
              <a:t>машин</a:t>
            </a:r>
            <a:r>
              <a:rPr lang="en-US" dirty="0"/>
              <a:t> к </a:t>
            </a:r>
            <a:r>
              <a:rPr lang="en-US" dirty="0" err="1"/>
              <a:t>легким</a:t>
            </a:r>
            <a:r>
              <a:rPr lang="en-US" dirty="0"/>
              <a:t> </a:t>
            </a:r>
            <a:r>
              <a:rPr lang="en-US" dirty="0" err="1"/>
              <a:t>контейнерам</a:t>
            </a:r>
            <a:r>
              <a:rPr lang="en-US" dirty="0"/>
              <a:t>. </a:t>
            </a:r>
            <a:r>
              <a:rPr lang="en-US" dirty="0" err="1"/>
              <a:t>Роль</a:t>
            </a:r>
            <a:r>
              <a:rPr lang="en-US" dirty="0"/>
              <a:t> Kubernetes в </a:t>
            </a:r>
            <a:r>
              <a:rPr lang="en-US" dirty="0" err="1"/>
              <a:t>современной</a:t>
            </a:r>
            <a:r>
              <a:rPr lang="en-US" dirty="0"/>
              <a:t> </a:t>
            </a:r>
            <a:r>
              <a:rPr lang="en-US" dirty="0" err="1"/>
              <a:t>инфраструктуре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Преимущества</a:t>
            </a:r>
            <a:r>
              <a:rPr lang="en-US" dirty="0"/>
              <a:t>: </a:t>
            </a:r>
            <a:r>
              <a:rPr lang="en-US" dirty="0" err="1"/>
              <a:t>Изоляция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, </a:t>
            </a:r>
            <a:r>
              <a:rPr lang="en-US" dirty="0" err="1"/>
              <a:t>экономия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оборудовании</a:t>
            </a:r>
            <a:r>
              <a:rPr lang="en-US" dirty="0"/>
              <a:t>, </a:t>
            </a:r>
            <a:r>
              <a:rPr lang="en-US" dirty="0" err="1"/>
              <a:t>быстрое</a:t>
            </a:r>
            <a:r>
              <a:rPr lang="en-US" dirty="0"/>
              <a:t> </a:t>
            </a:r>
            <a:r>
              <a:rPr lang="en-US" dirty="0" err="1"/>
              <a:t>восстановление</a:t>
            </a:r>
            <a:r>
              <a:rPr lang="en-US" dirty="0"/>
              <a:t> (Snapshot).</a:t>
            </a:r>
          </a:p>
        </p:txBody>
      </p:sp>
    </p:spTree>
    <p:extLst>
      <p:ext uri="{BB962C8B-B14F-4D97-AF65-F5344CB8AC3E}">
        <p14:creationId xmlns:p14="http://schemas.microsoft.com/office/powerpoint/2010/main" val="1255470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395D7-3105-CF8E-ECDA-2C4F8C954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456" y="264544"/>
            <a:ext cx="10890929" cy="1097280"/>
          </a:xfrm>
        </p:spPr>
        <p:txBody>
          <a:bodyPr/>
          <a:lstStyle/>
          <a:p>
            <a:r>
              <a:rPr lang="en-US" sz="2800" dirty="0"/>
              <a:t>2. </a:t>
            </a:r>
            <a:r>
              <a:rPr lang="en-US" sz="2800" dirty="0" err="1"/>
              <a:t>Облачные</a:t>
            </a:r>
            <a:r>
              <a:rPr lang="en-US" sz="2800" dirty="0"/>
              <a:t> </a:t>
            </a:r>
            <a:r>
              <a:rPr lang="en-US" sz="2800" dirty="0" err="1"/>
              <a:t>технологии</a:t>
            </a:r>
            <a:r>
              <a:rPr lang="en-US" sz="2800" dirty="0"/>
              <a:t> в 2026 </a:t>
            </a:r>
            <a:r>
              <a:rPr lang="en-US" sz="2800" dirty="0" err="1"/>
              <a:t>году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AEE00-20B0-E619-5E62-69513A1FB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713321"/>
            <a:ext cx="10890928" cy="3566160"/>
          </a:xfrm>
        </p:spPr>
        <p:txBody>
          <a:bodyPr>
            <a:normAutofit lnSpcReduction="10000"/>
          </a:bodyPr>
          <a:lstStyle/>
          <a:p>
            <a:pPr indent="-327660"/>
            <a:endParaRPr lang="en-US" dirty="0"/>
          </a:p>
          <a:p>
            <a:pPr marL="129540" indent="0">
              <a:buNone/>
            </a:pP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обслуживания</a:t>
            </a:r>
            <a:r>
              <a:rPr lang="en-US" dirty="0"/>
              <a:t>: </a:t>
            </a:r>
          </a:p>
          <a:p>
            <a:pPr marL="129540" indent="0">
              <a:buNone/>
            </a:pPr>
            <a:r>
              <a:rPr lang="en-US" dirty="0"/>
              <a:t>IaaS (</a:t>
            </a:r>
            <a:r>
              <a:rPr lang="en-US" dirty="0" err="1"/>
              <a:t>Инфраструктура</a:t>
            </a:r>
            <a:r>
              <a:rPr lang="en-US" dirty="0"/>
              <a:t>) — </a:t>
            </a:r>
            <a:r>
              <a:rPr lang="en-US" dirty="0" err="1"/>
              <a:t>аренда</a:t>
            </a:r>
            <a:r>
              <a:rPr lang="en-US" dirty="0"/>
              <a:t> «</a:t>
            </a:r>
            <a:r>
              <a:rPr lang="en-US" dirty="0" err="1"/>
              <a:t>железа</a:t>
            </a:r>
            <a:r>
              <a:rPr lang="en-US" dirty="0"/>
              <a:t>».</a:t>
            </a:r>
            <a:endParaRPr lang="en-US"/>
          </a:p>
          <a:p>
            <a:pPr marL="129540" indent="0">
              <a:buNone/>
            </a:pPr>
            <a:r>
              <a:rPr lang="en-US" dirty="0"/>
              <a:t>PaaS (</a:t>
            </a:r>
            <a:r>
              <a:rPr lang="en-US" dirty="0" err="1"/>
              <a:t>Платформа</a:t>
            </a:r>
            <a:r>
              <a:rPr lang="en-US" dirty="0"/>
              <a:t>) — </a:t>
            </a:r>
            <a:r>
              <a:rPr lang="en-US" dirty="0" err="1"/>
              <a:t>среда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разработчиков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/>
              <a:t>SaaS (ПО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сервис</a:t>
            </a:r>
            <a:r>
              <a:rPr lang="en-US" dirty="0"/>
              <a:t>) —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(</a:t>
            </a:r>
            <a:r>
              <a:rPr lang="en-US" dirty="0" err="1"/>
              <a:t>почта</a:t>
            </a:r>
            <a:r>
              <a:rPr lang="en-US" dirty="0"/>
              <a:t>, CRM).</a:t>
            </a:r>
          </a:p>
          <a:p>
            <a:pPr marL="129540" indent="0">
              <a:buNone/>
            </a:pP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развертывания</a:t>
            </a:r>
            <a:r>
              <a:rPr lang="en-US" dirty="0"/>
              <a:t>: </a:t>
            </a:r>
            <a:r>
              <a:rPr lang="en-US" dirty="0" err="1"/>
              <a:t>Частные</a:t>
            </a:r>
            <a:r>
              <a:rPr lang="en-US" dirty="0"/>
              <a:t> (Private), </a:t>
            </a:r>
            <a:r>
              <a:rPr lang="en-US" dirty="0" err="1"/>
              <a:t>публичные</a:t>
            </a:r>
            <a:r>
              <a:rPr lang="en-US" dirty="0"/>
              <a:t> (Public) и </a:t>
            </a:r>
            <a:r>
              <a:rPr lang="en-US" dirty="0" err="1"/>
              <a:t>доминирующие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гибридные</a:t>
            </a:r>
            <a:r>
              <a:rPr lang="en-US" dirty="0"/>
              <a:t> и </a:t>
            </a:r>
            <a:r>
              <a:rPr lang="en-US" dirty="0" err="1"/>
              <a:t>мультиоблачные</a:t>
            </a:r>
            <a:r>
              <a:rPr lang="en-US" dirty="0"/>
              <a:t> </a:t>
            </a:r>
            <a:r>
              <a:rPr lang="en-US" dirty="0" err="1"/>
              <a:t>стратегии</a:t>
            </a:r>
            <a:r>
              <a:rPr lang="en-US" dirty="0"/>
              <a:t> (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провайдеров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отказоустойчивости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74208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EF46-331E-1309-008C-D06DED10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35281"/>
            <a:ext cx="10890929" cy="1097280"/>
          </a:xfrm>
        </p:spPr>
        <p:txBody>
          <a:bodyPr>
            <a:normAutofit/>
          </a:bodyPr>
          <a:lstStyle/>
          <a:p>
            <a:r>
              <a:rPr lang="en-US" sz="2800" dirty="0" err="1"/>
              <a:t>Ключевые</a:t>
            </a:r>
            <a:r>
              <a:rPr lang="en-US" sz="2800" dirty="0"/>
              <a:t> </a:t>
            </a:r>
            <a:r>
              <a:rPr lang="en-US" sz="2800" dirty="0" err="1"/>
              <a:t>тренды</a:t>
            </a:r>
            <a:r>
              <a:rPr lang="en-US" sz="2800" dirty="0"/>
              <a:t> 2026 </a:t>
            </a:r>
            <a:r>
              <a:rPr lang="en-US" sz="2800" dirty="0" err="1"/>
              <a:t>года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6B84E-4E8C-2049-75A3-0674B2A86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" y="2003552"/>
            <a:ext cx="10890928" cy="5354320"/>
          </a:xfrm>
        </p:spPr>
        <p:txBody>
          <a:bodyPr>
            <a:normAutofit/>
          </a:bodyPr>
          <a:lstStyle/>
          <a:p>
            <a:pPr marL="129540" indent="0">
              <a:buNone/>
            </a:pPr>
            <a:r>
              <a:rPr lang="en-US" dirty="0" err="1"/>
              <a:t>AIaaS</a:t>
            </a:r>
            <a:r>
              <a:rPr lang="en-US" dirty="0"/>
              <a:t> (AI-as-a-Service): </a:t>
            </a:r>
            <a:r>
              <a:rPr lang="en-US" dirty="0" err="1"/>
              <a:t>Предоставление</a:t>
            </a:r>
            <a:r>
              <a:rPr lang="en-US" dirty="0"/>
              <a:t> </a:t>
            </a:r>
            <a:r>
              <a:rPr lang="en-US" dirty="0" err="1"/>
              <a:t>мощностей</a:t>
            </a:r>
            <a:r>
              <a:rPr lang="en-US" dirty="0"/>
              <a:t> GPU и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нейросетевых</a:t>
            </a:r>
            <a:r>
              <a:rPr lang="en-US" dirty="0"/>
              <a:t> </a:t>
            </a:r>
            <a:r>
              <a:rPr lang="en-US" dirty="0" err="1"/>
              <a:t>моделей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облако</a:t>
            </a:r>
            <a:r>
              <a:rPr lang="en-US" dirty="0"/>
              <a:t>.</a:t>
            </a:r>
            <a:endParaRPr lang="en-US"/>
          </a:p>
          <a:p>
            <a:pPr marL="129540" indent="0">
              <a:buNone/>
            </a:pPr>
            <a:r>
              <a:rPr lang="en-US" dirty="0"/>
              <a:t>Edge Computing (</a:t>
            </a:r>
            <a:r>
              <a:rPr lang="en-US" dirty="0" err="1"/>
              <a:t>Периферийные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):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ближе</a:t>
            </a:r>
            <a:r>
              <a:rPr lang="en-US" dirty="0"/>
              <a:t> к </a:t>
            </a:r>
            <a:r>
              <a:rPr lang="en-US" dirty="0" err="1"/>
              <a:t>источнику</a:t>
            </a:r>
            <a:r>
              <a:rPr lang="en-US" dirty="0"/>
              <a:t> (IoT, </a:t>
            </a:r>
            <a:r>
              <a:rPr lang="en-US" dirty="0" err="1"/>
              <a:t>датчики</a:t>
            </a:r>
            <a:r>
              <a:rPr lang="en-US" dirty="0"/>
              <a:t>),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снижает</a:t>
            </a:r>
            <a:r>
              <a:rPr lang="en-US" dirty="0"/>
              <a:t> </a:t>
            </a:r>
            <a:r>
              <a:rPr lang="en-US" dirty="0" err="1"/>
              <a:t>задержку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Суверенитет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: </a:t>
            </a:r>
            <a:r>
              <a:rPr lang="en-US" dirty="0" err="1"/>
              <a:t>Рост</a:t>
            </a:r>
            <a:r>
              <a:rPr lang="en-US" dirty="0"/>
              <a:t> </a:t>
            </a:r>
            <a:r>
              <a:rPr lang="en-US" dirty="0" err="1"/>
              <a:t>локальных</a:t>
            </a:r>
            <a:r>
              <a:rPr lang="en-US" dirty="0"/>
              <a:t> </a:t>
            </a:r>
            <a:r>
              <a:rPr lang="en-US" dirty="0" err="1"/>
              <a:t>облачных</a:t>
            </a:r>
            <a:r>
              <a:rPr lang="en-US" dirty="0"/>
              <a:t> </a:t>
            </a:r>
            <a:r>
              <a:rPr lang="en-US" dirty="0" err="1"/>
              <a:t>провайдеров</a:t>
            </a:r>
            <a:r>
              <a:rPr lang="en-US" dirty="0"/>
              <a:t> в </a:t>
            </a:r>
            <a:r>
              <a:rPr lang="en-US" dirty="0" err="1"/>
              <a:t>Казахстане</a:t>
            </a:r>
            <a:r>
              <a:rPr lang="en-US" dirty="0"/>
              <a:t> и РФ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законодательства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Безопасность</a:t>
            </a:r>
            <a:r>
              <a:rPr lang="en-US" dirty="0"/>
              <a:t> Zero Trust: </a:t>
            </a:r>
            <a:r>
              <a:rPr lang="en-US" dirty="0" err="1"/>
              <a:t>Архитектура</a:t>
            </a:r>
            <a:r>
              <a:rPr lang="en-US" dirty="0"/>
              <a:t> «</a:t>
            </a:r>
            <a:r>
              <a:rPr lang="en-US" dirty="0" err="1"/>
              <a:t>никому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доверяй</a:t>
            </a:r>
            <a:r>
              <a:rPr lang="en-US" dirty="0"/>
              <a:t>»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стандарт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облачным</a:t>
            </a:r>
            <a:r>
              <a:rPr lang="en-US" dirty="0"/>
              <a:t> </a:t>
            </a:r>
            <a:r>
              <a:rPr lang="en-US" dirty="0" err="1"/>
              <a:t>ресурсам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7485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9161-56D6-ED97-41D7-713044120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59" y="345441"/>
            <a:ext cx="10890929" cy="1097280"/>
          </a:xfrm>
        </p:spPr>
        <p:txBody>
          <a:bodyPr>
            <a:normAutofit/>
          </a:bodyPr>
          <a:lstStyle/>
          <a:p>
            <a:r>
              <a:rPr lang="en-US" sz="2800" dirty="0" err="1"/>
              <a:t>Заключение</a:t>
            </a:r>
            <a:endParaRPr lang="en-US" sz="2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D348E-FD6E-A192-9749-00DD8EDFF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755392"/>
            <a:ext cx="10291488" cy="4836160"/>
          </a:xfrm>
        </p:spPr>
        <p:txBody>
          <a:bodyPr/>
          <a:lstStyle/>
          <a:p>
            <a:pPr marL="129540" indent="0">
              <a:buNone/>
            </a:pPr>
            <a:r>
              <a:rPr lang="en-US" dirty="0"/>
              <a:t>К 2026 </a:t>
            </a:r>
            <a:r>
              <a:rPr lang="en-US" dirty="0" err="1"/>
              <a:t>году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95%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цифровых</a:t>
            </a:r>
            <a:r>
              <a:rPr lang="en-US" dirty="0"/>
              <a:t> </a:t>
            </a:r>
            <a:r>
              <a:rPr lang="en-US" dirty="0" err="1"/>
              <a:t>нагрузок</a:t>
            </a:r>
            <a:r>
              <a:rPr lang="en-US" dirty="0"/>
              <a:t> в </a:t>
            </a:r>
            <a:r>
              <a:rPr lang="en-US" dirty="0" err="1"/>
              <a:t>мире</a:t>
            </a:r>
            <a:r>
              <a:rPr lang="en-US" dirty="0"/>
              <a:t> </a:t>
            </a:r>
            <a:r>
              <a:rPr lang="en-US" dirty="0" err="1"/>
              <a:t>разворачиваются</a:t>
            </a:r>
            <a:r>
              <a:rPr lang="en-US" dirty="0"/>
              <a:t> в </a:t>
            </a:r>
            <a:r>
              <a:rPr lang="en-US" dirty="0" err="1"/>
              <a:t>облачных</a:t>
            </a:r>
            <a:r>
              <a:rPr lang="en-US" dirty="0"/>
              <a:t> </a:t>
            </a:r>
            <a:r>
              <a:rPr lang="en-US" dirty="0" err="1"/>
              <a:t>средах</a:t>
            </a:r>
            <a:r>
              <a:rPr lang="en-US" dirty="0"/>
              <a:t>. </a:t>
            </a:r>
            <a:r>
              <a:rPr lang="en-US" dirty="0" err="1"/>
              <a:t>Понимание</a:t>
            </a:r>
            <a:r>
              <a:rPr lang="en-US" dirty="0"/>
              <a:t> </a:t>
            </a:r>
            <a:r>
              <a:rPr lang="en-US" dirty="0" err="1"/>
              <a:t>виртуализации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базовым</a:t>
            </a:r>
            <a:r>
              <a:rPr lang="en-US" dirty="0"/>
              <a:t> </a:t>
            </a:r>
            <a:r>
              <a:rPr lang="en-US" dirty="0" err="1"/>
              <a:t>навыком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администраторов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программистов</a:t>
            </a:r>
            <a:r>
              <a:rPr lang="en-US" dirty="0"/>
              <a:t> и </a:t>
            </a:r>
            <a:r>
              <a:rPr lang="en-US" dirty="0" err="1"/>
              <a:t>менеджеров</a:t>
            </a:r>
            <a:r>
              <a:rPr lang="en-US" dirty="0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297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159B-B3B9-4729-1617-F79C52ED5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55941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СРО 14 </a:t>
            </a:r>
            <a:r>
              <a:rPr lang="en-US" b="0" dirty="0" err="1"/>
              <a:t>Основа</a:t>
            </a:r>
            <a:r>
              <a:rPr lang="en-US" b="0" dirty="0"/>
              <a:t> </a:t>
            </a:r>
            <a:r>
              <a:rPr lang="en-US" b="0" dirty="0" err="1"/>
              <a:t>работы</a:t>
            </a:r>
            <a:r>
              <a:rPr lang="en-US" b="0" dirty="0"/>
              <a:t> </a:t>
            </a:r>
            <a:r>
              <a:rPr lang="en-US" b="0" dirty="0" err="1"/>
              <a:t>гостевых</a:t>
            </a:r>
            <a:r>
              <a:rPr lang="en-US" b="0" dirty="0"/>
              <a:t> </a:t>
            </a:r>
            <a:r>
              <a:rPr lang="en-US" b="0" dirty="0" err="1"/>
              <a:t>операционных</a:t>
            </a:r>
            <a:r>
              <a:rPr lang="en-US" b="0" dirty="0"/>
              <a:t> </a:t>
            </a:r>
            <a:r>
              <a:rPr lang="en-US" b="0" dirty="0" err="1"/>
              <a:t>систем</a:t>
            </a:r>
            <a:r>
              <a:rPr lang="en-US" b="0" dirty="0"/>
              <a:t>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D1114B-FF3B-3CB0-4626-089E712B3FB9}"/>
              </a:ext>
            </a:extLst>
          </p:cNvPr>
          <p:cNvSpPr txBox="1"/>
          <p:nvPr/>
        </p:nvSpPr>
        <p:spPr>
          <a:xfrm>
            <a:off x="5980981" y="5010509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aseline="0">
                <a:latin typeface="Times New Roman"/>
              </a:rPr>
              <a:t>НАО «Евразийский Национальный университет имени </a:t>
            </a:r>
            <a:r>
              <a:rPr lang="en-US" sz="1800" baseline="0">
                <a:latin typeface="Times New Roman"/>
              </a:rPr>
              <a:t>​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Л.Н. Гумилева Институт цифровых наук и искусственного интелекта</a:t>
            </a:r>
            <a:r>
              <a:rPr lang="en-US" sz="1800" baseline="0">
                <a:latin typeface="Times New Roman"/>
              </a:rPr>
              <a:t>​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Кафедра «Информатика» </a:t>
            </a:r>
            <a:r>
              <a:rPr lang="en-US" sz="1800" baseline="0">
                <a:latin typeface="Times New Roman"/>
              </a:rPr>
              <a:t>​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br>
              <a:rPr sz="1800">
                <a:latin typeface="Times New Roman"/>
                <a:ea typeface="Times New Roman"/>
                <a:cs typeface="Times New Roman"/>
              </a:rPr>
            </a:br>
            <a:r>
              <a:rPr lang="ru-RU" sz="1800" baseline="0">
                <a:latin typeface="Times New Roman"/>
              </a:rPr>
              <a:t>Группа Инф.о-32</a:t>
            </a:r>
            <a:r>
              <a:rPr sz="1800"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506EFC-1D93-F981-59A1-445493A4253C}"/>
              </a:ext>
            </a:extLst>
          </p:cNvPr>
          <p:cNvSpPr txBox="1"/>
          <p:nvPr/>
        </p:nvSpPr>
        <p:spPr>
          <a:xfrm>
            <a:off x="646981" y="5456208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Проверила: </a:t>
            </a:r>
            <a:r>
              <a:rPr lang="ru-RU" sz="1600" b="0" i="0" u="none" strike="noStrike" baseline="0">
                <a:solidFill>
                  <a:srgbClr val="000000"/>
                </a:solidFill>
                <a:latin typeface="Public Sans"/>
              </a:rPr>
              <a:t>Давлетова А.Х.</a:t>
            </a:r>
            <a: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  <a:t>​</a:t>
            </a:r>
            <a:b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</a:br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Выполнил: Волков В.В.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45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4EA50-8802-76AA-2803-1913974B3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25121"/>
            <a:ext cx="10890929" cy="1097280"/>
          </a:xfrm>
        </p:spPr>
        <p:txBody>
          <a:bodyPr/>
          <a:lstStyle/>
          <a:p>
            <a:r>
              <a:rPr lang="en-US" sz="2800" dirty="0"/>
              <a:t>1. </a:t>
            </a:r>
            <a:r>
              <a:rPr lang="en-US" sz="2800" dirty="0" err="1"/>
              <a:t>Аппаратные</a:t>
            </a:r>
            <a:r>
              <a:rPr lang="en-US" sz="2800" dirty="0"/>
              <a:t> </a:t>
            </a:r>
            <a:r>
              <a:rPr lang="en-US" sz="2800" dirty="0" err="1"/>
              <a:t>основы</a:t>
            </a:r>
            <a:r>
              <a:rPr lang="en-US" sz="2800" dirty="0"/>
              <a:t> (Hardware)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7D75D-3C51-2936-86EC-7A19F61AE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034032"/>
            <a:ext cx="10890928" cy="3566160"/>
          </a:xfrm>
        </p:spPr>
        <p:txBody>
          <a:bodyPr>
            <a:normAutofit fontScale="92500" lnSpcReduction="20000"/>
          </a:bodyPr>
          <a:lstStyle/>
          <a:p>
            <a:pPr indent="-327660"/>
            <a:endParaRPr lang="en-US" dirty="0"/>
          </a:p>
          <a:p>
            <a:pPr marL="129540" indent="0">
              <a:buNone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эффективной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гостевых</a:t>
            </a:r>
            <a:r>
              <a:rPr lang="en-US" dirty="0"/>
              <a:t> ОС </a:t>
            </a:r>
            <a:r>
              <a:rPr lang="en-US" dirty="0" err="1"/>
              <a:t>требуются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процессоры</a:t>
            </a:r>
            <a:r>
              <a:rPr lang="en-US" dirty="0"/>
              <a:t> с </a:t>
            </a:r>
            <a:r>
              <a:rPr lang="en-US" dirty="0" err="1"/>
              <a:t>поддержкой</a:t>
            </a:r>
            <a:r>
              <a:rPr lang="en-US" dirty="0"/>
              <a:t> </a:t>
            </a:r>
            <a:r>
              <a:rPr lang="en-US" dirty="0" err="1"/>
              <a:t>технологий</a:t>
            </a:r>
            <a:r>
              <a:rPr lang="en-US" dirty="0"/>
              <a:t> </a:t>
            </a:r>
            <a:r>
              <a:rPr lang="en-US" dirty="0" err="1"/>
              <a:t>виртуализации</a:t>
            </a:r>
            <a:r>
              <a:rPr lang="en-US" dirty="0"/>
              <a:t>:</a:t>
            </a:r>
          </a:p>
          <a:p>
            <a:pPr marL="129540" indent="0">
              <a:buNone/>
            </a:pPr>
            <a:r>
              <a:rPr lang="en-US" dirty="0"/>
              <a:t>Intel VT-x </a:t>
            </a:r>
            <a:r>
              <a:rPr lang="en-US" dirty="0" err="1"/>
              <a:t>или</a:t>
            </a:r>
            <a:r>
              <a:rPr lang="en-US" dirty="0"/>
              <a:t> AMD-V: </a:t>
            </a:r>
            <a:r>
              <a:rPr lang="en-US" dirty="0" err="1"/>
              <a:t>Наборы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, </a:t>
            </a:r>
            <a:r>
              <a:rPr lang="en-US" dirty="0" err="1"/>
              <a:t>позволяющие</a:t>
            </a:r>
            <a:r>
              <a:rPr lang="en-US" dirty="0"/>
              <a:t> </a:t>
            </a:r>
            <a:r>
              <a:rPr lang="en-US" dirty="0" err="1"/>
              <a:t>гипервизору</a:t>
            </a:r>
            <a:r>
              <a:rPr lang="en-US" dirty="0"/>
              <a:t>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процессором</a:t>
            </a:r>
            <a:r>
              <a:rPr lang="en-US" dirty="0"/>
              <a:t> </a:t>
            </a:r>
            <a:r>
              <a:rPr lang="en-US" dirty="0" err="1"/>
              <a:t>гостевой</a:t>
            </a:r>
            <a:r>
              <a:rPr lang="en-US" dirty="0"/>
              <a:t> ОС </a:t>
            </a:r>
            <a:r>
              <a:rPr lang="en-US" dirty="0" err="1"/>
              <a:t>напрямую</a:t>
            </a:r>
            <a:r>
              <a:rPr lang="en-US" dirty="0"/>
              <a:t>, </a:t>
            </a:r>
            <a:r>
              <a:rPr lang="en-US" dirty="0" err="1"/>
              <a:t>минимизируя</a:t>
            </a:r>
            <a:r>
              <a:rPr lang="en-US" dirty="0"/>
              <a:t> </a:t>
            </a:r>
            <a:r>
              <a:rPr lang="en-US" dirty="0" err="1"/>
              <a:t>потери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/>
              <a:t>MMU Virtualization (EPT/RVI): </a:t>
            </a:r>
            <a:r>
              <a:rPr lang="en-US" dirty="0" err="1"/>
              <a:t>Аппаратная</a:t>
            </a:r>
            <a:r>
              <a:rPr lang="en-US" dirty="0"/>
              <a:t> </a:t>
            </a:r>
            <a:r>
              <a:rPr lang="en-US" dirty="0" err="1"/>
              <a:t>виртуализация</a:t>
            </a:r>
            <a:r>
              <a:rPr lang="en-US" dirty="0"/>
              <a:t> </a:t>
            </a:r>
            <a:r>
              <a:rPr lang="en-US" dirty="0" err="1"/>
              <a:t>таблиц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ускоряющая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</a:t>
            </a:r>
            <a:r>
              <a:rPr lang="en-US" dirty="0" err="1"/>
              <a:t>гостевой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к ОЗУ.</a:t>
            </a:r>
          </a:p>
          <a:p>
            <a:pPr marL="129540" indent="0">
              <a:buNone/>
            </a:pPr>
            <a:r>
              <a:rPr lang="en-US" dirty="0"/>
              <a:t>I/O Virtualization (Intel VT-d / AMD-Vi):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гостевой</a:t>
            </a:r>
            <a:r>
              <a:rPr lang="en-US" dirty="0"/>
              <a:t> ОС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периферийным</a:t>
            </a:r>
            <a:r>
              <a:rPr lang="en-US" dirty="0"/>
              <a:t> </a:t>
            </a:r>
            <a:r>
              <a:rPr lang="en-US" dirty="0" err="1"/>
              <a:t>устройствам</a:t>
            </a:r>
            <a:r>
              <a:rPr lang="en-US" dirty="0"/>
              <a:t> (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сетевым</a:t>
            </a:r>
            <a:r>
              <a:rPr lang="en-US" dirty="0"/>
              <a:t> </a:t>
            </a:r>
            <a:r>
              <a:rPr lang="en-US" dirty="0" err="1"/>
              <a:t>картам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GPU).</a:t>
            </a:r>
          </a:p>
        </p:txBody>
      </p:sp>
    </p:spTree>
    <p:extLst>
      <p:ext uri="{BB962C8B-B14F-4D97-AF65-F5344CB8AC3E}">
        <p14:creationId xmlns:p14="http://schemas.microsoft.com/office/powerpoint/2010/main" val="1990056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DBA3-D467-36AB-F140-2BD2FE9AD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14961"/>
            <a:ext cx="10890929" cy="1097280"/>
          </a:xfrm>
        </p:spPr>
        <p:txBody>
          <a:bodyPr/>
          <a:lstStyle/>
          <a:p>
            <a:r>
              <a:rPr lang="en-US" sz="2800" dirty="0"/>
              <a:t>2. </a:t>
            </a:r>
            <a:r>
              <a:rPr lang="en-US" sz="2800" dirty="0" err="1"/>
              <a:t>Программные</a:t>
            </a:r>
            <a:r>
              <a:rPr lang="en-US" sz="2800" dirty="0"/>
              <a:t> </a:t>
            </a:r>
            <a:r>
              <a:rPr lang="en-US" sz="2800" dirty="0" err="1"/>
              <a:t>основы</a:t>
            </a:r>
            <a:r>
              <a:rPr lang="en-US" sz="2800" dirty="0"/>
              <a:t> (Software)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20838-67A5-C060-F31A-14C7E9744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" y="1952752"/>
            <a:ext cx="10890928" cy="3566160"/>
          </a:xfrm>
        </p:spPr>
        <p:txBody>
          <a:bodyPr>
            <a:normAutofit fontScale="92500" lnSpcReduction="20000"/>
          </a:bodyPr>
          <a:lstStyle/>
          <a:p>
            <a:pPr indent="-327660"/>
            <a:endParaRPr lang="en-US" dirty="0"/>
          </a:p>
          <a:p>
            <a:pPr marL="129540" indent="0">
              <a:buNone/>
            </a:pPr>
            <a:r>
              <a:rPr lang="en-US" dirty="0" err="1"/>
              <a:t>Главным</a:t>
            </a:r>
            <a:r>
              <a:rPr lang="en-US" dirty="0"/>
              <a:t> </a:t>
            </a:r>
            <a:r>
              <a:rPr lang="en-US" dirty="0" err="1"/>
              <a:t>программным</a:t>
            </a:r>
            <a:r>
              <a:rPr lang="en-US" dirty="0"/>
              <a:t> </a:t>
            </a:r>
            <a:r>
              <a:rPr lang="en-US" dirty="0" err="1"/>
              <a:t>слоем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гипервизор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создает</a:t>
            </a:r>
            <a:r>
              <a:rPr lang="en-US" dirty="0"/>
              <a:t> </a:t>
            </a:r>
            <a:r>
              <a:rPr lang="en-US" dirty="0" err="1"/>
              <a:t>виртуальную</a:t>
            </a:r>
            <a:r>
              <a:rPr lang="en-US" dirty="0"/>
              <a:t> </a:t>
            </a:r>
            <a:r>
              <a:rPr lang="en-US" dirty="0" err="1"/>
              <a:t>аппаратную</a:t>
            </a:r>
            <a:r>
              <a:rPr lang="en-US" dirty="0"/>
              <a:t> </a:t>
            </a:r>
            <a:r>
              <a:rPr lang="en-US" dirty="0" err="1"/>
              <a:t>среду</a:t>
            </a:r>
            <a:r>
              <a:rPr lang="en-US" dirty="0"/>
              <a:t>:</a:t>
            </a:r>
          </a:p>
          <a:p>
            <a:pPr marL="129540" indent="0">
              <a:buNone/>
            </a:pPr>
            <a:r>
              <a:rPr lang="en-US" dirty="0" err="1"/>
              <a:t>Виртуальный</a:t>
            </a:r>
            <a:r>
              <a:rPr lang="en-US" dirty="0"/>
              <a:t> BIOS/UEFI: </a:t>
            </a:r>
            <a:r>
              <a:rPr lang="en-US" dirty="0" err="1"/>
              <a:t>Инициализирует</a:t>
            </a:r>
            <a:r>
              <a:rPr lang="en-US" dirty="0"/>
              <a:t> «</a:t>
            </a:r>
            <a:r>
              <a:rPr lang="en-US" dirty="0" err="1"/>
              <a:t>железо</a:t>
            </a:r>
            <a:r>
              <a:rPr lang="en-US" dirty="0"/>
              <a:t>»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загрузке</a:t>
            </a:r>
            <a:r>
              <a:rPr lang="en-US" dirty="0"/>
              <a:t> ВМ.</a:t>
            </a:r>
          </a:p>
          <a:p>
            <a:pPr marL="129540" indent="0">
              <a:buNone/>
            </a:pPr>
            <a:r>
              <a:rPr lang="en-US" dirty="0" err="1"/>
              <a:t>Эмуляция</a:t>
            </a:r>
            <a:r>
              <a:rPr lang="en-US" dirty="0"/>
              <a:t> </a:t>
            </a:r>
            <a:r>
              <a:rPr lang="en-US" dirty="0" err="1"/>
              <a:t>устройств</a:t>
            </a:r>
            <a:r>
              <a:rPr lang="en-US" dirty="0"/>
              <a:t>: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виртуальных</a:t>
            </a:r>
            <a:r>
              <a:rPr lang="en-US" dirty="0"/>
              <a:t> </a:t>
            </a:r>
            <a:r>
              <a:rPr lang="en-US" dirty="0" err="1"/>
              <a:t>дисков</a:t>
            </a:r>
            <a:r>
              <a:rPr lang="en-US" dirty="0"/>
              <a:t> (</a:t>
            </a:r>
            <a:r>
              <a:rPr lang="en-US" dirty="0" err="1"/>
              <a:t>файлы</a:t>
            </a:r>
            <a:r>
              <a:rPr lang="en-US" dirty="0"/>
              <a:t> .</a:t>
            </a:r>
            <a:r>
              <a:rPr lang="en-US" dirty="0" err="1"/>
              <a:t>vmdk</a:t>
            </a:r>
            <a:r>
              <a:rPr lang="en-US" dirty="0"/>
              <a:t>, .qcow2), </a:t>
            </a:r>
            <a:r>
              <a:rPr lang="en-US" dirty="0" err="1"/>
              <a:t>сетевых</a:t>
            </a:r>
            <a:r>
              <a:rPr lang="en-US" dirty="0"/>
              <a:t> </a:t>
            </a:r>
            <a:r>
              <a:rPr lang="en-US" dirty="0" err="1"/>
              <a:t>адаптеров</a:t>
            </a:r>
            <a:r>
              <a:rPr lang="en-US" dirty="0"/>
              <a:t> и </a:t>
            </a:r>
            <a:r>
              <a:rPr lang="en-US" dirty="0" err="1"/>
              <a:t>видеокарт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Драйверы</a:t>
            </a:r>
            <a:r>
              <a:rPr lang="en-US" dirty="0"/>
              <a:t> </a:t>
            </a:r>
            <a:r>
              <a:rPr lang="en-US" dirty="0" err="1"/>
              <a:t>интеграции</a:t>
            </a:r>
            <a:r>
              <a:rPr lang="en-US" dirty="0"/>
              <a:t> (Guest Additions / VMware Tools / </a:t>
            </a:r>
            <a:r>
              <a:rPr lang="en-US" dirty="0" err="1"/>
              <a:t>virtio</a:t>
            </a:r>
            <a:r>
              <a:rPr lang="en-US" dirty="0"/>
              <a:t>): </a:t>
            </a:r>
            <a:r>
              <a:rPr lang="en-US" dirty="0" err="1"/>
              <a:t>Специальное</a:t>
            </a:r>
            <a:r>
              <a:rPr lang="en-US" dirty="0"/>
              <a:t> ПО, </a:t>
            </a:r>
            <a:r>
              <a:rPr lang="en-US" dirty="0" err="1"/>
              <a:t>устанавливаемое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гостевой</a:t>
            </a:r>
            <a:r>
              <a:rPr lang="en-US" dirty="0"/>
              <a:t> ОС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оптимизации</a:t>
            </a:r>
            <a:r>
              <a:rPr lang="en-US" dirty="0"/>
              <a:t> </a:t>
            </a:r>
            <a:r>
              <a:rPr lang="en-US" dirty="0" err="1"/>
              <a:t>графики</a:t>
            </a:r>
            <a:r>
              <a:rPr lang="en-US" dirty="0"/>
              <a:t>,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30727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A21F-F7F8-505C-3E96-383498B19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39" y="375921"/>
            <a:ext cx="10890929" cy="1097280"/>
          </a:xfrm>
        </p:spPr>
        <p:txBody>
          <a:bodyPr>
            <a:normAutofit/>
          </a:bodyPr>
          <a:lstStyle/>
          <a:p>
            <a:r>
              <a:rPr lang="en-US" sz="2400" dirty="0"/>
              <a:t>3. </a:t>
            </a:r>
            <a:r>
              <a:rPr lang="en-US" sz="2400" dirty="0" err="1"/>
              <a:t>Процесс</a:t>
            </a:r>
            <a:r>
              <a:rPr lang="en-US" sz="2400" dirty="0"/>
              <a:t> </a:t>
            </a:r>
            <a:r>
              <a:rPr lang="en-US" sz="2400" dirty="0" err="1"/>
              <a:t>установки</a:t>
            </a:r>
            <a:r>
              <a:rPr lang="en-US" sz="2400" dirty="0"/>
              <a:t> (</a:t>
            </a:r>
            <a:r>
              <a:rPr lang="en-US" sz="2400" dirty="0" err="1"/>
              <a:t>Алгоритм</a:t>
            </a:r>
            <a:r>
              <a:rPr lang="en-US" sz="2400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2EF98-8EF9-0F1E-0E5B-0D1B2E14E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" y="1810512"/>
            <a:ext cx="10890928" cy="3566160"/>
          </a:xfrm>
        </p:spPr>
        <p:txBody>
          <a:bodyPr>
            <a:normAutofit/>
          </a:bodyPr>
          <a:lstStyle/>
          <a:p>
            <a:pPr indent="-327660"/>
            <a:endParaRPr lang="en-US" dirty="0"/>
          </a:p>
          <a:p>
            <a:pPr marL="129540" indent="0">
              <a:buNone/>
            </a:pP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оболочки</a:t>
            </a:r>
            <a:r>
              <a:rPr lang="en-US" dirty="0"/>
              <a:t>: </a:t>
            </a:r>
            <a:r>
              <a:rPr lang="en-US" dirty="0" err="1"/>
              <a:t>Выделение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(</a:t>
            </a:r>
            <a:r>
              <a:rPr lang="en-US" dirty="0" err="1"/>
              <a:t>кол-во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 CPU, </a:t>
            </a:r>
            <a:r>
              <a:rPr lang="en-US" dirty="0" err="1"/>
              <a:t>объем</a:t>
            </a:r>
            <a:r>
              <a:rPr lang="en-US" dirty="0"/>
              <a:t> RAM,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диска</a:t>
            </a:r>
            <a:r>
              <a:rPr lang="en-US" dirty="0"/>
              <a:t>).</a:t>
            </a:r>
          </a:p>
          <a:p>
            <a:pPr marL="129540" indent="0">
              <a:buNone/>
            </a:pPr>
            <a:r>
              <a:rPr lang="en-US" dirty="0" err="1"/>
              <a:t>Монтирование</a:t>
            </a:r>
            <a:r>
              <a:rPr lang="en-US" dirty="0"/>
              <a:t> </a:t>
            </a:r>
            <a:r>
              <a:rPr lang="en-US" dirty="0" err="1"/>
              <a:t>образа</a:t>
            </a:r>
            <a:r>
              <a:rPr lang="en-US" dirty="0"/>
              <a:t>: </a:t>
            </a:r>
            <a:r>
              <a:rPr lang="en-US" dirty="0" err="1"/>
              <a:t>Подключение</a:t>
            </a:r>
            <a:r>
              <a:rPr lang="en-US" dirty="0"/>
              <a:t> ISO-</a:t>
            </a:r>
            <a:r>
              <a:rPr lang="en-US" dirty="0" err="1"/>
              <a:t>образа</a:t>
            </a:r>
            <a:r>
              <a:rPr lang="en-US" dirty="0"/>
              <a:t> </a:t>
            </a:r>
            <a:r>
              <a:rPr lang="en-US" dirty="0" err="1"/>
              <a:t>дистрибутива</a:t>
            </a:r>
            <a:r>
              <a:rPr lang="en-US" dirty="0"/>
              <a:t> к </a:t>
            </a:r>
            <a:r>
              <a:rPr lang="en-US" dirty="0" err="1"/>
              <a:t>виртуальному</a:t>
            </a:r>
            <a:r>
              <a:rPr lang="en-US" dirty="0"/>
              <a:t> </a:t>
            </a:r>
            <a:r>
              <a:rPr lang="en-US" dirty="0" err="1"/>
              <a:t>приводу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Загрузка</a:t>
            </a:r>
            <a:r>
              <a:rPr lang="en-US" dirty="0"/>
              <a:t>: </a:t>
            </a:r>
            <a:r>
              <a:rPr lang="en-US" dirty="0" err="1"/>
              <a:t>Запуск</a:t>
            </a:r>
            <a:r>
              <a:rPr lang="en-US" dirty="0"/>
              <a:t> ВМ и </a:t>
            </a:r>
            <a:r>
              <a:rPr lang="en-US" dirty="0" err="1"/>
              <a:t>прохождение</a:t>
            </a:r>
            <a:r>
              <a:rPr lang="en-US" dirty="0"/>
              <a:t> </a:t>
            </a:r>
            <a:r>
              <a:rPr lang="en-US" dirty="0" err="1"/>
              <a:t>стандартного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установки</a:t>
            </a:r>
            <a:r>
              <a:rPr lang="en-US" dirty="0"/>
              <a:t> ОС (</a:t>
            </a:r>
            <a:r>
              <a:rPr lang="en-US" dirty="0" err="1"/>
              <a:t>разметка</a:t>
            </a:r>
            <a:r>
              <a:rPr lang="en-US" dirty="0"/>
              <a:t> </a:t>
            </a:r>
            <a:r>
              <a:rPr lang="en-US" dirty="0" err="1"/>
              <a:t>диска</a:t>
            </a:r>
            <a:r>
              <a:rPr lang="en-US" dirty="0"/>
              <a:t>,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часового</a:t>
            </a:r>
            <a:r>
              <a:rPr lang="en-US" dirty="0"/>
              <a:t> </a:t>
            </a:r>
            <a:r>
              <a:rPr lang="en-US" dirty="0" err="1"/>
              <a:t>пояса</a:t>
            </a:r>
            <a:r>
              <a:rPr lang="en-US" dirty="0"/>
              <a:t>).</a:t>
            </a:r>
          </a:p>
          <a:p>
            <a:pPr marL="129540" indent="0">
              <a:buNone/>
            </a:pPr>
            <a:r>
              <a:rPr lang="en-US" dirty="0" err="1"/>
              <a:t>Оптимизация</a:t>
            </a:r>
            <a:r>
              <a:rPr lang="en-US" dirty="0"/>
              <a:t>: </a:t>
            </a:r>
            <a:r>
              <a:rPr lang="en-US" dirty="0" err="1"/>
              <a:t>Установка</a:t>
            </a:r>
            <a:r>
              <a:rPr lang="en-US" dirty="0"/>
              <a:t> </a:t>
            </a:r>
            <a:r>
              <a:rPr lang="en-US" dirty="0" err="1"/>
              <a:t>дополнений</a:t>
            </a:r>
            <a:r>
              <a:rPr lang="en-US" dirty="0"/>
              <a:t> </a:t>
            </a:r>
            <a:r>
              <a:rPr lang="en-US" dirty="0" err="1"/>
              <a:t>гостевой</a:t>
            </a:r>
            <a:r>
              <a:rPr lang="en-US" dirty="0"/>
              <a:t> ОС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корректной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драйверов</a:t>
            </a:r>
            <a:r>
              <a:rPr lang="en-US" dirty="0"/>
              <a:t> и </a:t>
            </a:r>
            <a:r>
              <a:rPr lang="en-US" dirty="0" err="1"/>
              <a:t>сетевых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23523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4155-EE56-85F5-80B4-86E47D4F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39" y="1270001"/>
            <a:ext cx="10890929" cy="1097280"/>
          </a:xfrm>
        </p:spPr>
        <p:txBody>
          <a:bodyPr/>
          <a:lstStyle/>
          <a:p>
            <a:r>
              <a:rPr lang="en-US" sz="3200" dirty="0" err="1"/>
              <a:t>Итог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0C7A7-8E89-4AE4-7879-FA7509407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520" y="2369312"/>
            <a:ext cx="6511968" cy="3566160"/>
          </a:xfrm>
        </p:spPr>
        <p:txBody>
          <a:bodyPr/>
          <a:lstStyle/>
          <a:p>
            <a:pPr marL="129540" indent="0">
              <a:buNone/>
            </a:pPr>
            <a:r>
              <a:rPr lang="en-US" dirty="0" err="1"/>
              <a:t>Гостевая</a:t>
            </a:r>
            <a:r>
              <a:rPr lang="en-US" dirty="0"/>
              <a:t> ОС </a:t>
            </a:r>
            <a:r>
              <a:rPr lang="en-US" dirty="0" err="1"/>
              <a:t>изолирована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хоста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взаимодействует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с </a:t>
            </a:r>
            <a:r>
              <a:rPr lang="en-US" dirty="0" err="1"/>
              <a:t>физическими</a:t>
            </a:r>
            <a:r>
              <a:rPr lang="en-US" dirty="0"/>
              <a:t> </a:t>
            </a:r>
            <a:r>
              <a:rPr lang="en-US" dirty="0" err="1"/>
              <a:t>транзисторами</a:t>
            </a:r>
            <a:r>
              <a:rPr lang="en-US" dirty="0"/>
              <a:t>, а с </a:t>
            </a:r>
            <a:r>
              <a:rPr lang="en-US" dirty="0" err="1"/>
              <a:t>программными</a:t>
            </a:r>
            <a:r>
              <a:rPr lang="en-US" dirty="0"/>
              <a:t> </a:t>
            </a:r>
            <a:r>
              <a:rPr lang="en-US" dirty="0" err="1"/>
              <a:t>интерфейсами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подставляет</a:t>
            </a:r>
            <a:r>
              <a:rPr lang="en-US" dirty="0"/>
              <a:t> </a:t>
            </a:r>
            <a:r>
              <a:rPr lang="en-US" dirty="0" err="1"/>
              <a:t>гипервизор</a:t>
            </a:r>
            <a:r>
              <a:rPr lang="en-US" dirty="0"/>
              <a:t>, </a:t>
            </a:r>
            <a:r>
              <a:rPr lang="en-US" dirty="0" err="1"/>
              <a:t>опираясь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поддержку</a:t>
            </a:r>
            <a:r>
              <a:rPr lang="en-US" dirty="0"/>
              <a:t> CPU.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378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8F93-0032-D1C2-98FD-BE0B8E0FB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3600" dirty="0"/>
              <a:t>СРО 15 </a:t>
            </a:r>
            <a:br>
              <a:rPr lang="en-US" sz="3600" dirty="0"/>
            </a:br>
            <a:r>
              <a:rPr lang="en-US" sz="3600" dirty="0" err="1"/>
              <a:t>Составление</a:t>
            </a:r>
            <a:r>
              <a:rPr lang="en-US" sz="3600" dirty="0"/>
              <a:t> и </a:t>
            </a:r>
            <a:r>
              <a:rPr lang="en-US" sz="3600" dirty="0" err="1"/>
              <a:t>изложение</a:t>
            </a:r>
            <a:r>
              <a:rPr lang="en-US" sz="3600" dirty="0"/>
              <a:t> </a:t>
            </a:r>
            <a:r>
              <a:rPr lang="en-US" sz="3600" dirty="0" err="1"/>
              <a:t>условий</a:t>
            </a:r>
            <a:r>
              <a:rPr lang="en-US" sz="3600" dirty="0"/>
              <a:t> </a:t>
            </a:r>
            <a:r>
              <a:rPr lang="en-US" sz="3600" dirty="0" err="1"/>
              <a:t>применения</a:t>
            </a:r>
            <a:r>
              <a:rPr lang="en-US" sz="3600" dirty="0"/>
              <a:t> в </a:t>
            </a:r>
            <a:r>
              <a:rPr lang="en-US" sz="3600" dirty="0" err="1"/>
              <a:t>будущей</a:t>
            </a:r>
            <a:r>
              <a:rPr lang="en-US" sz="3600" dirty="0"/>
              <a:t> </a:t>
            </a:r>
            <a:r>
              <a:rPr lang="en-US" sz="3600" dirty="0" err="1"/>
              <a:t>охраняемой</a:t>
            </a:r>
            <a:r>
              <a:rPr lang="en-US" sz="3600" dirty="0"/>
              <a:t> </a:t>
            </a:r>
            <a:r>
              <a:rPr lang="en-US" sz="3600" dirty="0" err="1"/>
              <a:t>работе</a:t>
            </a:r>
            <a:r>
              <a:rPr lang="en-US" sz="36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393C2F-A3CD-7100-13B0-A749528A9D6C}"/>
              </a:ext>
            </a:extLst>
          </p:cNvPr>
          <p:cNvSpPr txBox="1"/>
          <p:nvPr/>
        </p:nvSpPr>
        <p:spPr>
          <a:xfrm>
            <a:off x="6081623" y="5068019"/>
            <a:ext cx="6096000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НАО «Евразийский Национальный университет имени 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Л.Н. Гумилева Институт цифровых наук и искусственного интелекта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Кафедра «Информатика» 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Times New Roman"/>
              </a:rPr>
              <a:t>​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b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ru-RU" sz="1800" b="0" i="0" u="none" strike="noStrike" baseline="0">
                <a:solidFill>
                  <a:srgbClr val="000000"/>
                </a:solidFill>
                <a:latin typeface="Times New Roman"/>
              </a:rPr>
              <a:t>Группа Инф.о-32</a:t>
            </a:r>
            <a:r>
              <a:rPr sz="18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48DBD6-E1DC-53B0-D985-85D9F2CD06B1}"/>
              </a:ext>
            </a:extLst>
          </p:cNvPr>
          <p:cNvSpPr txBox="1"/>
          <p:nvPr/>
        </p:nvSpPr>
        <p:spPr>
          <a:xfrm>
            <a:off x="646981" y="5585604"/>
            <a:ext cx="609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Проверила: </a:t>
            </a:r>
            <a:r>
              <a:rPr lang="ru-RU" sz="1600" b="0" i="0" u="none" strike="noStrike" baseline="0">
                <a:solidFill>
                  <a:srgbClr val="000000"/>
                </a:solidFill>
                <a:latin typeface="Public Sans"/>
              </a:rPr>
              <a:t>Давлетова А.Х.</a:t>
            </a:r>
            <a: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  <a:t>​</a:t>
            </a:r>
            <a:br>
              <a:rPr sz="1600" b="0" i="0">
                <a:solidFill>
                  <a:srgbClr val="000000"/>
                </a:solidFill>
                <a:latin typeface="Public Sans"/>
                <a:ea typeface="Public Sans"/>
                <a:cs typeface="Public Sans"/>
              </a:rPr>
            </a:br>
            <a:r>
              <a:rPr lang="ru-RU" sz="1600" b="0" i="0" u="none" strike="noStrike" baseline="0">
                <a:solidFill>
                  <a:srgbClr val="000000"/>
                </a:solidFill>
                <a:latin typeface="Play"/>
              </a:rPr>
              <a:t>Выполнил: Волков В.В.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776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2B943-0CCD-3626-B068-A68615A0B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93941"/>
            <a:ext cx="10890929" cy="1097280"/>
          </a:xfrm>
        </p:spPr>
        <p:txBody>
          <a:bodyPr/>
          <a:lstStyle/>
          <a:p>
            <a:r>
              <a:rPr lang="en-US" sz="2800" dirty="0"/>
              <a:t>1. </a:t>
            </a:r>
            <a:r>
              <a:rPr lang="en-US" sz="2800" dirty="0" err="1"/>
              <a:t>Требования</a:t>
            </a:r>
            <a:r>
              <a:rPr lang="en-US" sz="2800" dirty="0"/>
              <a:t> к </a:t>
            </a:r>
            <a:r>
              <a:rPr lang="en-US" sz="2800" dirty="0" err="1"/>
              <a:t>аппаратной</a:t>
            </a:r>
            <a:r>
              <a:rPr lang="en-US" sz="2800" dirty="0"/>
              <a:t> </a:t>
            </a:r>
            <a:r>
              <a:rPr lang="en-US" sz="2800" dirty="0" err="1"/>
              <a:t>платформе</a:t>
            </a:r>
            <a:r>
              <a:rPr lang="en-US" sz="2800" dirty="0"/>
              <a:t> (Infrastructure)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5C94C-A2BC-DB8F-3F6A-135FD6BFF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29540" indent="0">
              <a:buNone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стабильной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гостевых</a:t>
            </a:r>
            <a:r>
              <a:rPr lang="en-US" dirty="0"/>
              <a:t> ОС и </a:t>
            </a:r>
            <a:r>
              <a:rPr lang="en-US" dirty="0" err="1"/>
              <a:t>сервисов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соблюдаться</a:t>
            </a:r>
            <a:r>
              <a:rPr lang="en-US" dirty="0"/>
              <a:t> </a:t>
            </a:r>
            <a:r>
              <a:rPr lang="en-US" dirty="0" err="1"/>
              <a:t>следующие</a:t>
            </a:r>
            <a:r>
              <a:rPr lang="en-US" dirty="0"/>
              <a:t> </a:t>
            </a:r>
            <a:r>
              <a:rPr lang="en-US" dirty="0" err="1"/>
              <a:t>технические</a:t>
            </a:r>
            <a:r>
              <a:rPr lang="en-US" dirty="0"/>
              <a:t> </a:t>
            </a:r>
            <a:r>
              <a:rPr lang="en-US" dirty="0" err="1"/>
              <a:t>условия</a:t>
            </a:r>
            <a:r>
              <a:rPr lang="en-US" dirty="0"/>
              <a:t>:</a:t>
            </a:r>
          </a:p>
          <a:p>
            <a:pPr marL="129540" indent="0">
              <a:buNone/>
            </a:pPr>
            <a:r>
              <a:rPr lang="en-US" dirty="0"/>
              <a:t> </a:t>
            </a:r>
            <a:r>
              <a:rPr lang="en-US" dirty="0" err="1"/>
              <a:t>Аппаратная</a:t>
            </a:r>
            <a:r>
              <a:rPr lang="en-US" dirty="0"/>
              <a:t> </a:t>
            </a:r>
            <a:r>
              <a:rPr lang="en-US" dirty="0" err="1"/>
              <a:t>поддержка</a:t>
            </a:r>
            <a:r>
              <a:rPr lang="en-US" dirty="0"/>
              <a:t>: </a:t>
            </a:r>
            <a:r>
              <a:rPr lang="en-US" dirty="0" err="1"/>
              <a:t>Обязательная</a:t>
            </a:r>
            <a:r>
              <a:rPr lang="en-US" dirty="0"/>
              <a:t> </a:t>
            </a:r>
            <a:r>
              <a:rPr lang="en-US" dirty="0" err="1"/>
              <a:t>активация</a:t>
            </a:r>
            <a:r>
              <a:rPr lang="en-US" dirty="0"/>
              <a:t> </a:t>
            </a:r>
            <a:r>
              <a:rPr lang="en-US" dirty="0" err="1"/>
              <a:t>инструкций</a:t>
            </a:r>
            <a:r>
              <a:rPr lang="en-US" dirty="0"/>
              <a:t> </a:t>
            </a:r>
            <a:r>
              <a:rPr lang="en-US" dirty="0" err="1"/>
              <a:t>виртуализации</a:t>
            </a:r>
            <a:r>
              <a:rPr lang="en-US" dirty="0"/>
              <a:t> (Intel\ VT-x </a:t>
            </a:r>
            <a:r>
              <a:rPr lang="en-US" dirty="0" err="1"/>
              <a:t>или</a:t>
            </a:r>
            <a:r>
              <a:rPr lang="en-US" dirty="0"/>
              <a:t> AMD-V) в BIOS/UEFI.</a:t>
            </a:r>
          </a:p>
          <a:p>
            <a:pPr marL="129540" indent="0">
              <a:buNone/>
            </a:pPr>
            <a:r>
              <a:rPr lang="en-US" dirty="0" err="1"/>
              <a:t>Резервирование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: </a:t>
            </a:r>
            <a:r>
              <a:rPr lang="en-US" dirty="0" err="1"/>
              <a:t>Выделение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производиться</a:t>
            </a:r>
            <a:r>
              <a:rPr lang="en-US" dirty="0"/>
              <a:t> с </a:t>
            </a:r>
            <a:r>
              <a:rPr lang="en-US" dirty="0" err="1"/>
              <a:t>учетом</a:t>
            </a:r>
            <a:r>
              <a:rPr lang="en-US" dirty="0"/>
              <a:t> </a:t>
            </a:r>
            <a:r>
              <a:rPr lang="en-US" dirty="0" err="1"/>
              <a:t>коэффициента</a:t>
            </a:r>
            <a:r>
              <a:rPr lang="en-US" dirty="0"/>
              <a:t> </a:t>
            </a:r>
            <a:r>
              <a:rPr lang="en-US" dirty="0" err="1"/>
              <a:t>переподписки</a:t>
            </a:r>
            <a:r>
              <a:rPr lang="en-US" dirty="0"/>
              <a:t> (overcommitting).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критических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RAM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бронироваться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(1:1),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swap-</a:t>
            </a:r>
            <a:r>
              <a:rPr lang="en-US" dirty="0" err="1"/>
              <a:t>файла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хосте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Дисковая</a:t>
            </a:r>
            <a:r>
              <a:rPr lang="en-US" dirty="0"/>
              <a:t> </a:t>
            </a:r>
            <a:r>
              <a:rPr lang="en-US" dirty="0" err="1"/>
              <a:t>подсистема</a:t>
            </a:r>
            <a:r>
              <a:rPr lang="en-US" dirty="0"/>
              <a:t>: </a:t>
            </a:r>
            <a:r>
              <a:rPr lang="en-US" dirty="0" err="1"/>
              <a:t>Использование</a:t>
            </a:r>
            <a:r>
              <a:rPr lang="en-US" dirty="0"/>
              <a:t> SSD/</a:t>
            </a:r>
            <a:r>
              <a:rPr lang="en-US" dirty="0" err="1"/>
              <a:t>NVMe</a:t>
            </a:r>
            <a:r>
              <a:rPr lang="en-US" dirty="0"/>
              <a:t> </a:t>
            </a:r>
            <a:r>
              <a:rPr lang="en-US" dirty="0" err="1"/>
              <a:t>накопителей</a:t>
            </a:r>
            <a:r>
              <a:rPr lang="en-US" dirty="0"/>
              <a:t> с </a:t>
            </a:r>
            <a:r>
              <a:rPr lang="en-US" dirty="0" err="1"/>
              <a:t>поддержкой</a:t>
            </a:r>
            <a:r>
              <a:rPr lang="en-US" dirty="0"/>
              <a:t> </a:t>
            </a:r>
            <a:r>
              <a:rPr lang="en-US" dirty="0" err="1"/>
              <a:t>технологий</a:t>
            </a:r>
            <a:r>
              <a:rPr lang="en-US" dirty="0"/>
              <a:t> </a:t>
            </a:r>
            <a:r>
              <a:rPr lang="en-US" dirty="0" err="1"/>
              <a:t>защиты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(RAID 10)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минимизации</a:t>
            </a:r>
            <a:r>
              <a:rPr lang="en-US" dirty="0"/>
              <a:t> </a:t>
            </a:r>
            <a:r>
              <a:rPr lang="en-US" dirty="0" err="1"/>
              <a:t>задержек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 (I/O\ wait).</a:t>
            </a:r>
          </a:p>
        </p:txBody>
      </p:sp>
    </p:spTree>
    <p:extLst>
      <p:ext uri="{BB962C8B-B14F-4D97-AF65-F5344CB8AC3E}">
        <p14:creationId xmlns:p14="http://schemas.microsoft.com/office/powerpoint/2010/main" val="20795391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BBD2-69CF-AAB9-AF02-BF1F86BD7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04801"/>
            <a:ext cx="10890929" cy="1097280"/>
          </a:xfrm>
        </p:spPr>
        <p:txBody>
          <a:bodyPr/>
          <a:lstStyle/>
          <a:p>
            <a:r>
              <a:rPr lang="en-US" sz="2800" dirty="0"/>
              <a:t>2. </a:t>
            </a:r>
            <a:r>
              <a:rPr lang="en-US" sz="2800" dirty="0" err="1"/>
              <a:t>Условия</a:t>
            </a:r>
            <a:r>
              <a:rPr lang="en-US" sz="2800" dirty="0"/>
              <a:t> </a:t>
            </a:r>
            <a:r>
              <a:rPr lang="en-US" sz="2800" dirty="0" err="1"/>
              <a:t>обеспечения</a:t>
            </a:r>
            <a:r>
              <a:rPr lang="en-US" sz="2800" dirty="0"/>
              <a:t> </a:t>
            </a:r>
            <a:r>
              <a:rPr lang="en-US" sz="2800" dirty="0" err="1"/>
              <a:t>информационной</a:t>
            </a:r>
            <a:r>
              <a:rPr lang="en-US" sz="2800" dirty="0"/>
              <a:t> </a:t>
            </a:r>
            <a:r>
              <a:rPr lang="en-US" sz="2800" dirty="0" err="1"/>
              <a:t>безопасности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D0FF6-E82C-62C5-400F-FD4663C7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470912"/>
            <a:ext cx="10890928" cy="3566160"/>
          </a:xfrm>
        </p:spPr>
        <p:txBody>
          <a:bodyPr>
            <a:normAutofit fontScale="92500" lnSpcReduction="10000"/>
          </a:bodyPr>
          <a:lstStyle/>
          <a:p>
            <a:pPr marL="129540" indent="0">
              <a:buNone/>
            </a:pP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ключевой</a:t>
            </a:r>
            <a:r>
              <a:rPr lang="en-US" dirty="0"/>
              <a:t> </a:t>
            </a:r>
            <a:r>
              <a:rPr lang="en-US" dirty="0" err="1"/>
              <a:t>раздел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любой</a:t>
            </a:r>
            <a:r>
              <a:rPr lang="en-US" dirty="0"/>
              <a:t> «</a:t>
            </a:r>
            <a:r>
              <a:rPr lang="en-US" dirty="0" err="1"/>
              <a:t>охраняемой</a:t>
            </a:r>
            <a:r>
              <a:rPr lang="en-US" dirty="0"/>
              <a:t>» </a:t>
            </a:r>
            <a:r>
              <a:rPr lang="en-US" dirty="0" err="1"/>
              <a:t>работы</a:t>
            </a:r>
            <a:r>
              <a:rPr lang="en-US" dirty="0"/>
              <a:t>:</a:t>
            </a:r>
          </a:p>
          <a:p>
            <a:pPr marL="129540" indent="0">
              <a:buNone/>
            </a:pPr>
            <a:r>
              <a:rPr lang="en-US" dirty="0" err="1"/>
              <a:t>Изоляция</a:t>
            </a:r>
            <a:r>
              <a:rPr lang="en-US" dirty="0"/>
              <a:t> </a:t>
            </a:r>
            <a:r>
              <a:rPr lang="en-US" dirty="0" err="1"/>
              <a:t>сред</a:t>
            </a:r>
            <a:r>
              <a:rPr lang="en-US" dirty="0"/>
              <a:t>: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логических</a:t>
            </a:r>
            <a:r>
              <a:rPr lang="en-US" dirty="0"/>
              <a:t> </a:t>
            </a:r>
            <a:r>
              <a:rPr lang="en-US" dirty="0" err="1"/>
              <a:t>сетей</a:t>
            </a:r>
            <a:r>
              <a:rPr lang="en-US" dirty="0"/>
              <a:t> (VLAN) и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микросегментации</a:t>
            </a:r>
            <a:r>
              <a:rPr lang="en-US" dirty="0"/>
              <a:t>. </a:t>
            </a:r>
            <a:r>
              <a:rPr lang="en-US" dirty="0" err="1"/>
              <a:t>Трафик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тестовой</a:t>
            </a:r>
            <a:r>
              <a:rPr lang="en-US" dirty="0"/>
              <a:t> и </a:t>
            </a:r>
            <a:r>
              <a:rPr lang="en-US" dirty="0" err="1"/>
              <a:t>продуктовой</a:t>
            </a:r>
            <a:r>
              <a:rPr lang="en-US" dirty="0"/>
              <a:t> </a:t>
            </a:r>
            <a:r>
              <a:rPr lang="en-US" dirty="0" err="1"/>
              <a:t>средой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блокирован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Контроль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: </a:t>
            </a:r>
            <a:r>
              <a:rPr lang="en-US" dirty="0" err="1"/>
              <a:t>Применение</a:t>
            </a:r>
            <a:r>
              <a:rPr lang="en-US" dirty="0"/>
              <a:t> </a:t>
            </a:r>
            <a:r>
              <a:rPr lang="en-US" dirty="0" err="1"/>
              <a:t>ролевой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(RBAC).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гипервизору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консоли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облаком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осуществляться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защищенный</a:t>
            </a:r>
            <a:r>
              <a:rPr lang="en-US" dirty="0"/>
              <a:t> </a:t>
            </a:r>
            <a:r>
              <a:rPr lang="en-US" dirty="0" err="1"/>
              <a:t>шлюз</a:t>
            </a:r>
            <a:r>
              <a:rPr lang="en-US" dirty="0"/>
              <a:t> (Bastion Host) с </a:t>
            </a:r>
            <a:r>
              <a:rPr lang="en-US" dirty="0" err="1"/>
              <a:t>использованием</a:t>
            </a:r>
            <a:r>
              <a:rPr lang="en-US" dirty="0"/>
              <a:t> </a:t>
            </a:r>
            <a:r>
              <a:rPr lang="en-US" dirty="0" err="1"/>
              <a:t>двухфакторной</a:t>
            </a:r>
            <a:r>
              <a:rPr lang="en-US" dirty="0"/>
              <a:t> </a:t>
            </a:r>
            <a:r>
              <a:rPr lang="en-US" dirty="0" err="1"/>
              <a:t>аутентификации</a:t>
            </a:r>
            <a:r>
              <a:rPr lang="en-US" dirty="0"/>
              <a:t> (2FA).</a:t>
            </a:r>
          </a:p>
          <a:p>
            <a:pPr marL="129540" indent="0">
              <a:buNone/>
            </a:pPr>
            <a:r>
              <a:rPr lang="en-US" err="1"/>
              <a:t>Целостность</a:t>
            </a:r>
            <a:r>
              <a:rPr lang="en-US" dirty="0"/>
              <a:t> </a:t>
            </a:r>
            <a:r>
              <a:rPr lang="en-US" err="1"/>
              <a:t>данных</a:t>
            </a:r>
            <a:r>
              <a:rPr lang="en-US" dirty="0"/>
              <a:t>: </a:t>
            </a:r>
            <a:r>
              <a:rPr lang="en-US" err="1"/>
              <a:t>Регулярное</a:t>
            </a:r>
            <a:r>
              <a:rPr lang="en-US" dirty="0"/>
              <a:t> </a:t>
            </a:r>
            <a:r>
              <a:rPr lang="en-US" err="1"/>
              <a:t>создание</a:t>
            </a:r>
            <a:r>
              <a:rPr lang="en-US" dirty="0"/>
              <a:t> и </a:t>
            </a:r>
            <a:r>
              <a:rPr lang="en-US" err="1"/>
              <a:t>проверка</a:t>
            </a:r>
            <a:r>
              <a:rPr lang="en-US" dirty="0"/>
              <a:t> </a:t>
            </a:r>
            <a:r>
              <a:rPr lang="en-US" err="1"/>
              <a:t>контрольных</a:t>
            </a:r>
            <a:r>
              <a:rPr lang="en-US" dirty="0"/>
              <a:t> </a:t>
            </a:r>
            <a:r>
              <a:rPr lang="en-US" err="1"/>
              <a:t>сумм</a:t>
            </a:r>
            <a:r>
              <a:rPr lang="en-US" dirty="0"/>
              <a:t> </a:t>
            </a:r>
            <a:r>
              <a:rPr lang="en-US" err="1"/>
              <a:t>виртуальных</a:t>
            </a:r>
            <a:r>
              <a:rPr lang="en-US" dirty="0"/>
              <a:t> </a:t>
            </a:r>
            <a:r>
              <a:rPr lang="en-US" err="1"/>
              <a:t>дисков</a:t>
            </a:r>
            <a:r>
              <a:rPr lang="en-US" dirty="0"/>
              <a:t> и </a:t>
            </a:r>
            <a:r>
              <a:rPr lang="en-US" err="1"/>
              <a:t>снапшотов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6036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82137-3423-E368-C121-E2B6ACFA2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239" y="314961"/>
            <a:ext cx="10890929" cy="1097280"/>
          </a:xfrm>
        </p:spPr>
        <p:txBody>
          <a:bodyPr/>
          <a:lstStyle/>
          <a:p>
            <a:r>
              <a:rPr lang="en-US" sz="2400" dirty="0"/>
              <a:t>3. </a:t>
            </a:r>
            <a:r>
              <a:rPr lang="en-US" sz="2400" dirty="0" err="1"/>
              <a:t>Регламент</a:t>
            </a:r>
            <a:r>
              <a:rPr lang="en-US" sz="2400" dirty="0"/>
              <a:t> </a:t>
            </a:r>
            <a:r>
              <a:rPr lang="en-US" sz="2400" dirty="0" err="1"/>
              <a:t>обслуживания</a:t>
            </a:r>
            <a:r>
              <a:rPr lang="en-US" sz="2400" dirty="0"/>
              <a:t> и </a:t>
            </a:r>
            <a:r>
              <a:rPr lang="en-US" sz="2400" dirty="0" err="1"/>
              <a:t>мониторинга</a:t>
            </a:r>
            <a:endParaRPr lang="en-US" sz="2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2BFFD-DC5A-20F9-0933-61F73324A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" y="2308352"/>
            <a:ext cx="10890928" cy="3566160"/>
          </a:xfrm>
        </p:spPr>
        <p:txBody>
          <a:bodyPr>
            <a:normAutofit lnSpcReduction="10000"/>
          </a:bodyPr>
          <a:lstStyle/>
          <a:p>
            <a:pPr marL="129540" indent="0">
              <a:buNone/>
            </a:pPr>
            <a:r>
              <a:rPr lang="en-US" dirty="0" err="1"/>
              <a:t>Резервное</a:t>
            </a:r>
            <a:r>
              <a:rPr lang="en-US" dirty="0"/>
              <a:t> </a:t>
            </a:r>
            <a:r>
              <a:rPr lang="en-US" dirty="0" err="1"/>
              <a:t>копирование</a:t>
            </a:r>
            <a:r>
              <a:rPr lang="en-US" dirty="0"/>
              <a:t> (Backup): </a:t>
            </a:r>
            <a:r>
              <a:rPr lang="en-US" dirty="0" err="1"/>
              <a:t>Соблюдение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«3-2-1» (3 </a:t>
            </a:r>
            <a:r>
              <a:rPr lang="en-US" dirty="0" err="1"/>
              <a:t>копии</a:t>
            </a:r>
            <a:r>
              <a:rPr lang="en-US" dirty="0"/>
              <a:t>, 2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носителя</a:t>
            </a:r>
            <a:r>
              <a:rPr lang="en-US" dirty="0"/>
              <a:t>, 1 </a:t>
            </a:r>
            <a:r>
              <a:rPr lang="en-US" dirty="0" err="1"/>
              <a:t>копия</a:t>
            </a:r>
            <a:r>
              <a:rPr lang="en-US" dirty="0"/>
              <a:t> </a:t>
            </a:r>
            <a:r>
              <a:rPr lang="en-US" dirty="0" err="1"/>
              <a:t>вне</a:t>
            </a:r>
            <a:r>
              <a:rPr lang="en-US" dirty="0"/>
              <a:t> </a:t>
            </a:r>
            <a:r>
              <a:rPr lang="en-US" dirty="0" err="1"/>
              <a:t>площадки</a:t>
            </a:r>
            <a:r>
              <a:rPr lang="en-US" dirty="0"/>
              <a:t>). </a:t>
            </a:r>
            <a:r>
              <a:rPr lang="en-US" dirty="0" err="1"/>
              <a:t>Резервное</a:t>
            </a:r>
            <a:r>
              <a:rPr lang="en-US" dirty="0"/>
              <a:t> </a:t>
            </a: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осуществляться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образа</a:t>
            </a:r>
            <a:r>
              <a:rPr lang="en-US" dirty="0"/>
              <a:t> ВМ,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Мониторинг</a:t>
            </a:r>
            <a:r>
              <a:rPr lang="en-US" dirty="0"/>
              <a:t> </a:t>
            </a:r>
            <a:r>
              <a:rPr lang="en-US" dirty="0" err="1"/>
              <a:t>метрик</a:t>
            </a:r>
            <a:r>
              <a:rPr lang="en-US" dirty="0"/>
              <a:t>: </a:t>
            </a:r>
            <a:r>
              <a:rPr lang="en-US" dirty="0" err="1"/>
              <a:t>Непрерывное</a:t>
            </a:r>
            <a:r>
              <a:rPr lang="en-US" dirty="0"/>
              <a:t> </a:t>
            </a:r>
            <a:r>
              <a:rPr lang="en-US" dirty="0" err="1"/>
              <a:t>отслеживание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CPU, </a:t>
            </a:r>
            <a:r>
              <a:rPr lang="en-US" dirty="0" err="1"/>
              <a:t>утилизации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сетевой</a:t>
            </a:r>
            <a:r>
              <a:rPr lang="en-US" dirty="0"/>
              <a:t> </a:t>
            </a:r>
            <a:r>
              <a:rPr lang="en-US" dirty="0" err="1"/>
              <a:t>активности</a:t>
            </a:r>
            <a:r>
              <a:rPr lang="en-US" dirty="0"/>
              <a:t>. </a:t>
            </a:r>
            <a:r>
              <a:rPr lang="en-US" dirty="0" err="1"/>
              <a:t>Установка</a:t>
            </a:r>
            <a:r>
              <a:rPr lang="en-US" dirty="0"/>
              <a:t> </a:t>
            </a:r>
            <a:r>
              <a:rPr lang="en-US" dirty="0" err="1"/>
              <a:t>порогов</a:t>
            </a:r>
            <a:r>
              <a:rPr lang="en-US" dirty="0"/>
              <a:t> </a:t>
            </a:r>
            <a:r>
              <a:rPr lang="en-US" dirty="0" err="1"/>
              <a:t>уведомлений</a:t>
            </a:r>
            <a:r>
              <a:rPr lang="en-US" dirty="0"/>
              <a:t> (Alerts)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80% </a:t>
            </a:r>
            <a:r>
              <a:rPr lang="en-US" dirty="0" err="1"/>
              <a:t>потребления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Обновление</a:t>
            </a:r>
            <a:r>
              <a:rPr lang="en-US" dirty="0"/>
              <a:t> ПО: </a:t>
            </a:r>
            <a:r>
              <a:rPr lang="en-US" dirty="0" err="1"/>
              <a:t>Регламентированное</a:t>
            </a:r>
            <a:r>
              <a:rPr lang="en-US" dirty="0"/>
              <a:t> </a:t>
            </a:r>
            <a:r>
              <a:rPr lang="en-US" dirty="0" err="1"/>
              <a:t>обновление</a:t>
            </a:r>
            <a:r>
              <a:rPr lang="en-US" dirty="0"/>
              <a:t> </a:t>
            </a:r>
            <a:r>
              <a:rPr lang="en-US" dirty="0" err="1"/>
              <a:t>гипервизора</a:t>
            </a:r>
            <a:r>
              <a:rPr lang="en-US" dirty="0"/>
              <a:t> и «</a:t>
            </a:r>
            <a:r>
              <a:rPr lang="en-US" dirty="0" err="1"/>
              <a:t>гостевых</a:t>
            </a:r>
            <a:r>
              <a:rPr lang="en-US" dirty="0"/>
              <a:t> </a:t>
            </a:r>
            <a:r>
              <a:rPr lang="en-US" dirty="0" err="1"/>
              <a:t>дополнений</a:t>
            </a:r>
            <a:r>
              <a:rPr lang="en-US" dirty="0"/>
              <a:t>» (Guest Additions)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предварительного</a:t>
            </a:r>
            <a:r>
              <a:rPr lang="en-US" dirty="0"/>
              <a:t> </a:t>
            </a:r>
            <a:r>
              <a:rPr lang="en-US" dirty="0" err="1"/>
              <a:t>тестирования</a:t>
            </a:r>
            <a:r>
              <a:rPr lang="en-US" dirty="0"/>
              <a:t> в </a:t>
            </a:r>
            <a:r>
              <a:rPr lang="en-US" dirty="0" err="1"/>
              <a:t>изолированной</a:t>
            </a:r>
            <a:r>
              <a:rPr lang="en-US" dirty="0"/>
              <a:t> </a:t>
            </a:r>
            <a:r>
              <a:rPr lang="en-US" dirty="0" err="1"/>
              <a:t>среде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66674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132A-6FDF-18CA-95D9-7429067DE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78922"/>
            <a:ext cx="10890929" cy="1097280"/>
          </a:xfrm>
        </p:spPr>
        <p:txBody>
          <a:bodyPr>
            <a:normAutofit/>
          </a:bodyPr>
          <a:lstStyle/>
          <a:p>
            <a:r>
              <a:rPr lang="en-US" sz="3200" dirty="0"/>
              <a:t>4. </a:t>
            </a:r>
            <a:r>
              <a:rPr lang="en-US" sz="3200" dirty="0" err="1"/>
              <a:t>Юридические</a:t>
            </a:r>
            <a:r>
              <a:rPr lang="en-US" sz="3200" dirty="0"/>
              <a:t> и </a:t>
            </a:r>
            <a:r>
              <a:rPr lang="en-US" sz="3200" dirty="0" err="1"/>
              <a:t>комплаенс-условия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659B-4706-6AE3-F12B-0EDCE4D63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4457" y="1885849"/>
            <a:ext cx="10890928" cy="3566160"/>
          </a:xfrm>
        </p:spPr>
        <p:txBody>
          <a:bodyPr/>
          <a:lstStyle/>
          <a:p>
            <a:pPr indent="-327660"/>
            <a:endParaRPr lang="en-US" dirty="0"/>
          </a:p>
          <a:p>
            <a:pPr marL="129540" indent="0">
              <a:buNone/>
            </a:pPr>
            <a:r>
              <a:rPr lang="en-US" dirty="0" err="1"/>
              <a:t>Локализация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: В </a:t>
            </a:r>
            <a:r>
              <a:rPr lang="en-US" dirty="0" err="1"/>
              <a:t>соответствии</a:t>
            </a:r>
            <a:r>
              <a:rPr lang="en-US" dirty="0"/>
              <a:t> с </a:t>
            </a:r>
            <a:r>
              <a:rPr lang="en-US" dirty="0" err="1"/>
              <a:t>законодательством</a:t>
            </a:r>
            <a:r>
              <a:rPr lang="en-US" dirty="0"/>
              <a:t> (</a:t>
            </a:r>
            <a:r>
              <a:rPr lang="en-US" dirty="0" err="1"/>
              <a:t>например</a:t>
            </a:r>
            <a:r>
              <a:rPr lang="en-US" dirty="0"/>
              <a:t>, РК </a:t>
            </a:r>
            <a:r>
              <a:rPr lang="en-US" dirty="0" err="1"/>
              <a:t>или</a:t>
            </a:r>
            <a:r>
              <a:rPr lang="en-US" dirty="0"/>
              <a:t> РФ), </a:t>
            </a:r>
            <a:r>
              <a:rPr lang="en-US" dirty="0" err="1"/>
              <a:t>персональные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граждан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храниться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серверах</a:t>
            </a:r>
            <a:r>
              <a:rPr lang="en-US" dirty="0"/>
              <a:t>, </a:t>
            </a:r>
            <a:r>
              <a:rPr lang="en-US" dirty="0" err="1"/>
              <a:t>физически</a:t>
            </a:r>
            <a:r>
              <a:rPr lang="en-US" dirty="0"/>
              <a:t> </a:t>
            </a:r>
            <a:r>
              <a:rPr lang="en-US" dirty="0" err="1"/>
              <a:t>расположенных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страны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Лицензионная</a:t>
            </a:r>
            <a:r>
              <a:rPr lang="en-US" dirty="0"/>
              <a:t> </a:t>
            </a:r>
            <a:r>
              <a:rPr lang="en-US" dirty="0" err="1"/>
              <a:t>чистота</a:t>
            </a:r>
            <a:r>
              <a:rPr lang="en-US" dirty="0"/>
              <a:t>: </a:t>
            </a:r>
            <a:r>
              <a:rPr lang="en-US" dirty="0" err="1"/>
              <a:t>Использование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лицензированного</a:t>
            </a:r>
            <a:r>
              <a:rPr lang="en-US" dirty="0"/>
              <a:t> ПО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решений</a:t>
            </a:r>
            <a:r>
              <a:rPr lang="en-US" dirty="0"/>
              <a:t> с </a:t>
            </a:r>
            <a:r>
              <a:rPr lang="en-US" dirty="0" err="1"/>
              <a:t>открытым</a:t>
            </a:r>
            <a:r>
              <a:rPr lang="en-US" dirty="0"/>
              <a:t> </a:t>
            </a:r>
            <a:r>
              <a:rPr lang="en-US" dirty="0" err="1"/>
              <a:t>исходным</a:t>
            </a:r>
            <a:r>
              <a:rPr lang="en-US" dirty="0"/>
              <a:t> </a:t>
            </a:r>
            <a:r>
              <a:rPr lang="en-US" dirty="0" err="1"/>
              <a:t>кодом</a:t>
            </a:r>
            <a:r>
              <a:rPr lang="en-US" dirty="0"/>
              <a:t> (Open Source), </a:t>
            </a:r>
            <a:r>
              <a:rPr lang="en-US" dirty="0" err="1"/>
              <a:t>разрешенных</a:t>
            </a:r>
            <a:r>
              <a:rPr lang="en-US" dirty="0"/>
              <a:t> к </a:t>
            </a:r>
            <a:r>
              <a:rPr lang="en-US" dirty="0" err="1"/>
              <a:t>применению</a:t>
            </a:r>
            <a:r>
              <a:rPr lang="en-US" dirty="0"/>
              <a:t> в </a:t>
            </a:r>
            <a:r>
              <a:rPr lang="en-US" dirty="0" err="1"/>
              <a:t>корпоративном</a:t>
            </a:r>
            <a:r>
              <a:rPr lang="en-US" dirty="0"/>
              <a:t> </a:t>
            </a:r>
            <a:r>
              <a:rPr lang="en-US" dirty="0" err="1"/>
              <a:t>секторе</a:t>
            </a:r>
            <a:r>
              <a:rPr lang="en-US" dirty="0"/>
              <a:t>.</a:t>
            </a:r>
          </a:p>
          <a:p>
            <a:pPr marL="129540" indent="0">
              <a:buNone/>
            </a:pPr>
            <a:r>
              <a:rPr lang="en-US" dirty="0" err="1"/>
              <a:t>Резюме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изложения</a:t>
            </a:r>
            <a:r>
              <a:rPr lang="en-US" dirty="0"/>
              <a:t>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4595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42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DashVTI</vt:lpstr>
      <vt:lpstr>НАО «Евразийский Национальный университет имени  Л.Н. Гумилева Институт цифровых наук и искусственного интелекта  Кафедра «Информатика»  Группа Инф.о-32</vt:lpstr>
      <vt:lpstr>Цель проекта</vt:lpstr>
      <vt:lpstr>Задачи проекта </vt:lpstr>
      <vt:lpstr>НАО «Евразийский Национальный университет имени  Л.Н. Гумилева Институт цифровых наук и искусственного интелекта Кафедра «Информатика»  Группа Инф.о-32</vt:lpstr>
      <vt:lpstr>Аннотация проекта </vt:lpstr>
      <vt:lpstr>СРО №3 Подбор содержания учебного материала в соответствовании задачам проекта: выбор инструментов необходимых для реализации проекта.</vt:lpstr>
      <vt:lpstr>Подбор содержания учебного материала</vt:lpstr>
      <vt:lpstr>1.1. Вводный блок: общее представление о сервисах Google</vt:lpstr>
      <vt:lpstr>1.2. Блок «Безопасность в интернете»</vt:lpstr>
      <vt:lpstr>1.3. Основной практический блок: создание аккаунта Google</vt:lpstr>
      <vt:lpstr>1.4. Заключительный блок: знакомство с Gmail</vt:lpstr>
      <vt:lpstr>2. Инструменты, необходимые для реализации проекта </vt:lpstr>
      <vt:lpstr>Инструменты, необходимые для реализации проекта</vt:lpstr>
      <vt:lpstr>СРО№4 Подбор ресурса, соответствующего облачному сервису</vt:lpstr>
      <vt:lpstr>GMAIL </vt:lpstr>
      <vt:lpstr>PowerPoint Presentation</vt:lpstr>
      <vt:lpstr>СРО №5“Разработка структуры проекта”</vt:lpstr>
      <vt:lpstr>Структура проекта</vt:lpstr>
      <vt:lpstr>Проектная(практическая) часть</vt:lpstr>
      <vt:lpstr> СРО 6-7 Разработка отдельных компонентов</vt:lpstr>
      <vt:lpstr>СРО 8-9 Практическая  разработка по выбранной теме</vt:lpstr>
      <vt:lpstr>«В ходе практической разработки были выполнены  следующие шаги:</vt:lpstr>
      <vt:lpstr>СРО 10-11 Рассмотрение методоа доступа к академическим облачным ресурсам</vt:lpstr>
      <vt:lpstr>1. Методы аутентификации и идентификации</vt:lpstr>
      <vt:lpstr>2. Технические протоколы доступа</vt:lpstr>
      <vt:lpstr>3 Специализированные академические интерфейсы</vt:lpstr>
      <vt:lpstr>СРО 12 Обзор интернет-ресурсов разработка доклада по теме «Виртуализация и облачные технологии»</vt:lpstr>
      <vt:lpstr>PowerPoint Presentation</vt:lpstr>
      <vt:lpstr>Структура и тезисы доклада</vt:lpstr>
      <vt:lpstr>2. Облачные технологии в 2026 году</vt:lpstr>
      <vt:lpstr>Ключевые тренды 2026 года</vt:lpstr>
      <vt:lpstr>Заключение</vt:lpstr>
      <vt:lpstr>СРО 14 Основа работы гостевых операционных систем </vt:lpstr>
      <vt:lpstr>1. Аппаратные основы (Hardware)</vt:lpstr>
      <vt:lpstr>2. Программные основы (Software)</vt:lpstr>
      <vt:lpstr>3. Процесс установки (Алгоритм)</vt:lpstr>
      <vt:lpstr>Итог</vt:lpstr>
      <vt:lpstr>СРО 15  Составление и изложение условий применения в будущей охраняемой работе.</vt:lpstr>
      <vt:lpstr>1. Требования к аппаратной платформе (Infrastructure)</vt:lpstr>
      <vt:lpstr>2. Условия обеспечения информационной безопасности</vt:lpstr>
      <vt:lpstr>3. Регламент обслуживания и мониторинга</vt:lpstr>
      <vt:lpstr>4. Юридические и комплаенс-условия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НАО «Евразийский Национальный университет имени  Л.Н. Гумилева Институт цифровых наук и искусственного интелекта  Кафедра «Информатика»  Группа Инф.о-32</dc:title>
  <dc:creator>Волков Виктор Владимирович</dc:creator>
  <cp:lastModifiedBy>Волков Виктор Владимирович</cp:lastModifiedBy>
  <cp:revision>256</cp:revision>
  <dcterms:created xsi:type="dcterms:W3CDTF">2026-01-30T12:18:18Z</dcterms:created>
  <dcterms:modified xsi:type="dcterms:W3CDTF">2026-04-03T12:49:08Z</dcterms:modified>
</cp:coreProperties>
</file>